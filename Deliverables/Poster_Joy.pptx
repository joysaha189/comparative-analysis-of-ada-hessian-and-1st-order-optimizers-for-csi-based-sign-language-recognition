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56" r:id="rId5"/>
    <p:sldId id="268" r:id="rId6"/>
    <p:sldId id="269" r:id="rId7"/>
  </p:sldIdLst>
  <p:sldSz cx="43891200" cy="32918400"/>
  <p:notesSz cx="7010400" cy="92964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009EDE"/>
    <a:srgbClr val="666633"/>
    <a:srgbClr val="00AA48"/>
    <a:srgbClr val="00CC99"/>
    <a:srgbClr val="3399FF"/>
    <a:srgbClr val="FF3399"/>
    <a:srgbClr val="CCFF33"/>
    <a:srgbClr val="66FF33"/>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83" autoAdjust="0"/>
    <p:restoredTop sz="94558"/>
  </p:normalViewPr>
  <p:slideViewPr>
    <p:cSldViewPr snapToGrid="0">
      <p:cViewPr varScale="1">
        <p:scale>
          <a:sx n="17" d="100"/>
          <a:sy n="17" d="100"/>
        </p:scale>
        <p:origin x="101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800" b="1" i="0" u="none" strike="noStrike" kern="1200" spc="0" baseline="0">
                <a:solidFill>
                  <a:schemeClr val="tx1"/>
                </a:solidFill>
                <a:latin typeface="+mn-lt"/>
                <a:ea typeface="+mn-ea"/>
                <a:cs typeface="+mn-cs"/>
              </a:defRPr>
            </a:pPr>
            <a:r>
              <a:rPr lang="en-US" sz="4800" b="1">
                <a:solidFill>
                  <a:schemeClr val="tx1"/>
                </a:solidFill>
              </a:rPr>
              <a:t>Student Presenters</a:t>
            </a:r>
          </a:p>
        </c:rich>
      </c:tx>
      <c:layout>
        <c:manualLayout>
          <c:xMode val="edge"/>
          <c:yMode val="edge"/>
          <c:x val="0.32741375866813927"/>
          <c:y val="9.6889658972833526E-2"/>
        </c:manualLayout>
      </c:layout>
      <c:overlay val="0"/>
      <c:spPr>
        <a:noFill/>
        <a:ln>
          <a:noFill/>
        </a:ln>
        <a:effectLst/>
      </c:spPr>
      <c:txPr>
        <a:bodyPr rot="0" spcFirstLastPara="1" vertOverflow="ellipsis" vert="horz" wrap="square" anchor="ctr" anchorCtr="1"/>
        <a:lstStyle/>
        <a:p>
          <a:pPr>
            <a:defRPr sz="48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Sheet1!$A$3</c:f>
              <c:strCache>
                <c:ptCount val="1"/>
                <c:pt idx="0">
                  <c:v>Number of Students</c:v>
                </c:pt>
              </c:strCache>
            </c:strRef>
          </c:tx>
          <c:spPr>
            <a:solidFill>
              <a:srgbClr val="FFC446"/>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4400"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errBars>
            <c:errBarType val="both"/>
            <c:errValType val="stdErr"/>
            <c:noEndCap val="0"/>
            <c:spPr>
              <a:noFill/>
              <a:ln w="9525" cap="flat" cmpd="sng" algn="ctr">
                <a:solidFill>
                  <a:schemeClr val="tx1">
                    <a:lumMod val="65000"/>
                    <a:lumOff val="35000"/>
                  </a:schemeClr>
                </a:solidFill>
                <a:round/>
              </a:ln>
              <a:effectLst/>
            </c:spPr>
          </c:errBars>
          <c:cat>
            <c:strRef>
              <c:f>Sheet1!$B$2:$C$2</c:f>
              <c:strCache>
                <c:ptCount val="2"/>
                <c:pt idx="0">
                  <c:v>Poster</c:v>
                </c:pt>
                <c:pt idx="1">
                  <c:v>Other</c:v>
                </c:pt>
              </c:strCache>
            </c:strRef>
          </c:cat>
          <c:val>
            <c:numRef>
              <c:f>Sheet1!$B$3:$C$3</c:f>
              <c:numCache>
                <c:formatCode>General</c:formatCode>
                <c:ptCount val="2"/>
                <c:pt idx="0">
                  <c:v>80</c:v>
                </c:pt>
                <c:pt idx="1">
                  <c:v>60</c:v>
                </c:pt>
              </c:numCache>
            </c:numRef>
          </c:val>
          <c:extLst>
            <c:ext xmlns:c16="http://schemas.microsoft.com/office/drawing/2014/chart" uri="{C3380CC4-5D6E-409C-BE32-E72D297353CC}">
              <c16:uniqueId val="{00000000-70A8-0D43-98B5-CE44C58A4BAA}"/>
            </c:ext>
          </c:extLst>
        </c:ser>
        <c:dLbls>
          <c:dLblPos val="inBase"/>
          <c:showLegendKey val="0"/>
          <c:showVal val="1"/>
          <c:showCatName val="0"/>
          <c:showSerName val="0"/>
          <c:showPercent val="0"/>
          <c:showBubbleSize val="0"/>
        </c:dLbls>
        <c:gapWidth val="57"/>
        <c:axId val="238432760"/>
        <c:axId val="238433152"/>
      </c:barChart>
      <c:catAx>
        <c:axId val="238432760"/>
        <c:scaling>
          <c:orientation val="minMax"/>
        </c:scaling>
        <c:delete val="0"/>
        <c:axPos val="b"/>
        <c:title>
          <c:tx>
            <c:rich>
              <a:bodyPr rot="0" spcFirstLastPara="1" vertOverflow="ellipsis" vert="horz" wrap="square" anchor="ctr" anchorCtr="1"/>
              <a:lstStyle/>
              <a:p>
                <a:pPr>
                  <a:defRPr sz="3600" b="0" i="0" u="none" strike="noStrike" kern="1200" baseline="0">
                    <a:solidFill>
                      <a:schemeClr val="tx1"/>
                    </a:solidFill>
                    <a:latin typeface="+mn-lt"/>
                    <a:ea typeface="+mn-ea"/>
                    <a:cs typeface="+mn-cs"/>
                  </a:defRPr>
                </a:pPr>
                <a:r>
                  <a:rPr lang="en-US" sz="3600" dirty="0">
                    <a:solidFill>
                      <a:schemeClr val="tx1"/>
                    </a:solidFill>
                  </a:rPr>
                  <a:t>Presentation Type</a:t>
                </a:r>
              </a:p>
            </c:rich>
          </c:tx>
          <c:overlay val="0"/>
          <c:spPr>
            <a:noFill/>
            <a:ln>
              <a:noFill/>
            </a:ln>
            <a:effectLst/>
          </c:spPr>
          <c:txPr>
            <a:bodyPr rot="0" spcFirstLastPara="1" vertOverflow="ellipsis" vert="horz" wrap="square" anchor="ctr" anchorCtr="1"/>
            <a:lstStyle/>
            <a:p>
              <a:pPr>
                <a:defRPr sz="36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4000" b="0" i="0" u="none" strike="noStrike" kern="1200" baseline="0">
                <a:solidFill>
                  <a:schemeClr val="tx1"/>
                </a:solidFill>
                <a:latin typeface="+mn-lt"/>
                <a:ea typeface="+mn-ea"/>
                <a:cs typeface="+mn-cs"/>
              </a:defRPr>
            </a:pPr>
            <a:endParaRPr lang="en-US"/>
          </a:p>
        </c:txPr>
        <c:crossAx val="238433152"/>
        <c:crosses val="autoZero"/>
        <c:auto val="1"/>
        <c:lblAlgn val="ctr"/>
        <c:lblOffset val="100"/>
        <c:noMultiLvlLbl val="0"/>
      </c:catAx>
      <c:valAx>
        <c:axId val="238433152"/>
        <c:scaling>
          <c:orientation val="minMax"/>
          <c:max val="100"/>
          <c:min val="0"/>
        </c:scaling>
        <c:delete val="0"/>
        <c:axPos val="l"/>
        <c:title>
          <c:tx>
            <c:rich>
              <a:bodyPr rot="-5400000" spcFirstLastPara="1" vertOverflow="ellipsis" vert="horz" wrap="square" anchor="ctr" anchorCtr="1"/>
              <a:lstStyle/>
              <a:p>
                <a:pPr>
                  <a:defRPr sz="3600" b="0" i="0" u="none" strike="noStrike" kern="1200" baseline="0">
                    <a:solidFill>
                      <a:schemeClr val="tx1"/>
                    </a:solidFill>
                    <a:latin typeface="+mn-lt"/>
                    <a:ea typeface="+mn-ea"/>
                    <a:cs typeface="+mn-cs"/>
                  </a:defRPr>
                </a:pPr>
                <a:r>
                  <a:rPr lang="en-US" sz="3600" dirty="0">
                    <a:solidFill>
                      <a:schemeClr val="tx1"/>
                    </a:solidFill>
                  </a:rPr>
                  <a:t>Number of Students</a:t>
                </a:r>
              </a:p>
            </c:rich>
          </c:tx>
          <c:overlay val="0"/>
          <c:spPr>
            <a:noFill/>
            <a:ln>
              <a:noFill/>
            </a:ln>
            <a:effectLst/>
          </c:spPr>
          <c:txPr>
            <a:bodyPr rot="-5400000" spcFirstLastPara="1" vertOverflow="ellipsis" vert="horz" wrap="square" anchor="ctr" anchorCtr="1"/>
            <a:lstStyle/>
            <a:p>
              <a:pPr>
                <a:defRPr sz="36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4000" b="0" i="0" u="none" strike="noStrike" kern="1200" baseline="0">
                <a:solidFill>
                  <a:schemeClr val="tx1"/>
                </a:solidFill>
                <a:latin typeface="+mn-lt"/>
                <a:ea typeface="+mn-ea"/>
                <a:cs typeface="+mn-cs"/>
              </a:defRPr>
            </a:pPr>
            <a:endParaRPr lang="en-US"/>
          </a:p>
        </c:txPr>
        <c:crossAx val="238432760"/>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BCFFCF-166A-4D70-87D1-D14516387672}" type="doc">
      <dgm:prSet loTypeId="urn:microsoft.com/office/officeart/2005/8/layout/process1" loCatId="process" qsTypeId="urn:microsoft.com/office/officeart/2005/8/quickstyle/simple1" qsCatId="simple" csTypeId="urn:microsoft.com/office/officeart/2005/8/colors/accent1_2" csCatId="accent1" phldr="1"/>
      <dgm:spPr/>
    </dgm:pt>
    <dgm:pt modelId="{E42D5D8D-B469-4985-ABBE-7BFF16FF14AE}">
      <dgm:prSet phldrT="[Text]"/>
      <dgm:spPr>
        <a:solidFill>
          <a:srgbClr val="FFC446"/>
        </a:solidFill>
        <a:ln>
          <a:solidFill>
            <a:schemeClr val="tx1"/>
          </a:solidFill>
        </a:ln>
      </dgm:spPr>
      <dgm:t>
        <a:bodyPr/>
        <a:lstStyle/>
        <a:p>
          <a:r>
            <a:rPr lang="en-US" b="1" dirty="0">
              <a:solidFill>
                <a:schemeClr val="tx1"/>
              </a:solidFill>
            </a:rPr>
            <a:t>Make Poster</a:t>
          </a:r>
        </a:p>
      </dgm:t>
    </dgm:pt>
    <dgm:pt modelId="{F2245A92-5E07-4A6F-A8C9-DED3770367D4}" type="parTrans" cxnId="{C5FB0172-DD34-4FAE-BDFA-4977DA34AF77}">
      <dgm:prSet/>
      <dgm:spPr/>
      <dgm:t>
        <a:bodyPr/>
        <a:lstStyle/>
        <a:p>
          <a:endParaRPr lang="en-US"/>
        </a:p>
      </dgm:t>
    </dgm:pt>
    <dgm:pt modelId="{0ECEF585-D206-42CF-8E8A-F4F3C063F961}" type="sibTrans" cxnId="{C5FB0172-DD34-4FAE-BDFA-4977DA34AF77}">
      <dgm:prSet/>
      <dgm:spPr/>
      <dgm:t>
        <a:bodyPr/>
        <a:lstStyle/>
        <a:p>
          <a:endParaRPr lang="en-US"/>
        </a:p>
      </dgm:t>
    </dgm:pt>
    <dgm:pt modelId="{A674F946-7CE8-4A8F-9132-E6D23EE38250}">
      <dgm:prSet phldrT="[Text]"/>
      <dgm:spPr>
        <a:solidFill>
          <a:srgbClr val="FFC446"/>
        </a:solidFill>
        <a:ln>
          <a:solidFill>
            <a:schemeClr val="tx1"/>
          </a:solidFill>
        </a:ln>
      </dgm:spPr>
      <dgm:t>
        <a:bodyPr/>
        <a:lstStyle/>
        <a:p>
          <a:r>
            <a:rPr lang="en-US" b="1" dirty="0">
              <a:solidFill>
                <a:schemeClr val="tx1"/>
              </a:solidFill>
            </a:rPr>
            <a:t>Save as PDF</a:t>
          </a:r>
        </a:p>
      </dgm:t>
    </dgm:pt>
    <dgm:pt modelId="{2275FA1B-1596-4725-91C2-69C4F332D944}" type="parTrans" cxnId="{D69B8B36-B67B-4C4F-A5A0-D26E5A8DF163}">
      <dgm:prSet/>
      <dgm:spPr/>
      <dgm:t>
        <a:bodyPr/>
        <a:lstStyle/>
        <a:p>
          <a:endParaRPr lang="en-US"/>
        </a:p>
      </dgm:t>
    </dgm:pt>
    <dgm:pt modelId="{E9CC2387-2EC9-4BB3-8D81-64E0632BF0D3}" type="sibTrans" cxnId="{D69B8B36-B67B-4C4F-A5A0-D26E5A8DF163}">
      <dgm:prSet/>
      <dgm:spPr/>
      <dgm:t>
        <a:bodyPr/>
        <a:lstStyle/>
        <a:p>
          <a:endParaRPr lang="en-US"/>
        </a:p>
      </dgm:t>
    </dgm:pt>
    <dgm:pt modelId="{3FE4CB07-69FC-46A1-9161-5F0BDA726531}">
      <dgm:prSet phldrT="[Text]"/>
      <dgm:spPr>
        <a:solidFill>
          <a:srgbClr val="FFC446"/>
        </a:solidFill>
        <a:ln>
          <a:solidFill>
            <a:schemeClr val="tx1"/>
          </a:solidFill>
        </a:ln>
      </dgm:spPr>
      <dgm:t>
        <a:bodyPr/>
        <a:lstStyle/>
        <a:p>
          <a:r>
            <a:rPr lang="en-US" b="1" dirty="0">
              <a:solidFill>
                <a:schemeClr val="tx1"/>
              </a:solidFill>
            </a:rPr>
            <a:t>Send to Printer</a:t>
          </a:r>
        </a:p>
      </dgm:t>
    </dgm:pt>
    <dgm:pt modelId="{8A11C461-1C5C-4CBE-B41F-929679DFA63A}" type="parTrans" cxnId="{145EF72E-8137-4392-A36D-80E1D03731E3}">
      <dgm:prSet/>
      <dgm:spPr/>
      <dgm:t>
        <a:bodyPr/>
        <a:lstStyle/>
        <a:p>
          <a:endParaRPr lang="en-US"/>
        </a:p>
      </dgm:t>
    </dgm:pt>
    <dgm:pt modelId="{93C32958-F12A-4DCD-9EE8-B7E4879D7742}" type="sibTrans" cxnId="{145EF72E-8137-4392-A36D-80E1D03731E3}">
      <dgm:prSet/>
      <dgm:spPr/>
      <dgm:t>
        <a:bodyPr/>
        <a:lstStyle/>
        <a:p>
          <a:endParaRPr lang="en-US"/>
        </a:p>
      </dgm:t>
    </dgm:pt>
    <dgm:pt modelId="{BF609BD9-0F5D-4B91-8622-7018294BB31E}" type="pres">
      <dgm:prSet presAssocID="{90BCFFCF-166A-4D70-87D1-D14516387672}" presName="Name0" presStyleCnt="0">
        <dgm:presLayoutVars>
          <dgm:dir/>
          <dgm:resizeHandles val="exact"/>
        </dgm:presLayoutVars>
      </dgm:prSet>
      <dgm:spPr/>
    </dgm:pt>
    <dgm:pt modelId="{F0BB1FFF-3F8B-4846-A4F1-602D138A474E}" type="pres">
      <dgm:prSet presAssocID="{E42D5D8D-B469-4985-ABBE-7BFF16FF14AE}" presName="node" presStyleLbl="node1" presStyleIdx="0" presStyleCnt="3">
        <dgm:presLayoutVars>
          <dgm:bulletEnabled val="1"/>
        </dgm:presLayoutVars>
      </dgm:prSet>
      <dgm:spPr/>
    </dgm:pt>
    <dgm:pt modelId="{E5F8D983-B667-496F-A808-9B25607A2417}" type="pres">
      <dgm:prSet presAssocID="{0ECEF585-D206-42CF-8E8A-F4F3C063F961}" presName="sibTrans" presStyleLbl="sibTrans2D1" presStyleIdx="0" presStyleCnt="2"/>
      <dgm:spPr/>
    </dgm:pt>
    <dgm:pt modelId="{9F13D796-89B8-44C2-857C-7704472366CC}" type="pres">
      <dgm:prSet presAssocID="{0ECEF585-D206-42CF-8E8A-F4F3C063F961}" presName="connectorText" presStyleLbl="sibTrans2D1" presStyleIdx="0" presStyleCnt="2"/>
      <dgm:spPr/>
    </dgm:pt>
    <dgm:pt modelId="{A8E3C83C-2229-4964-B227-589356681117}" type="pres">
      <dgm:prSet presAssocID="{A674F946-7CE8-4A8F-9132-E6D23EE38250}" presName="node" presStyleLbl="node1" presStyleIdx="1" presStyleCnt="3">
        <dgm:presLayoutVars>
          <dgm:bulletEnabled val="1"/>
        </dgm:presLayoutVars>
      </dgm:prSet>
      <dgm:spPr/>
    </dgm:pt>
    <dgm:pt modelId="{F7EA0CA1-41BE-430D-8122-8003BD2FE836}" type="pres">
      <dgm:prSet presAssocID="{E9CC2387-2EC9-4BB3-8D81-64E0632BF0D3}" presName="sibTrans" presStyleLbl="sibTrans2D1" presStyleIdx="1" presStyleCnt="2"/>
      <dgm:spPr/>
    </dgm:pt>
    <dgm:pt modelId="{037B1B47-4D3D-416D-9FEC-DE74085E7D24}" type="pres">
      <dgm:prSet presAssocID="{E9CC2387-2EC9-4BB3-8D81-64E0632BF0D3}" presName="connectorText" presStyleLbl="sibTrans2D1" presStyleIdx="1" presStyleCnt="2"/>
      <dgm:spPr/>
    </dgm:pt>
    <dgm:pt modelId="{BBF4D389-CB9E-422E-9B55-633D4FB67E47}" type="pres">
      <dgm:prSet presAssocID="{3FE4CB07-69FC-46A1-9161-5F0BDA726531}" presName="node" presStyleLbl="node1" presStyleIdx="2" presStyleCnt="3">
        <dgm:presLayoutVars>
          <dgm:bulletEnabled val="1"/>
        </dgm:presLayoutVars>
      </dgm:prSet>
      <dgm:spPr/>
    </dgm:pt>
  </dgm:ptLst>
  <dgm:cxnLst>
    <dgm:cxn modelId="{145EF72E-8137-4392-A36D-80E1D03731E3}" srcId="{90BCFFCF-166A-4D70-87D1-D14516387672}" destId="{3FE4CB07-69FC-46A1-9161-5F0BDA726531}" srcOrd="2" destOrd="0" parTransId="{8A11C461-1C5C-4CBE-B41F-929679DFA63A}" sibTransId="{93C32958-F12A-4DCD-9EE8-B7E4879D7742}"/>
    <dgm:cxn modelId="{5F05F82F-28BF-40CD-BB94-FE06AA7C5DCB}" type="presOf" srcId="{3FE4CB07-69FC-46A1-9161-5F0BDA726531}" destId="{BBF4D389-CB9E-422E-9B55-633D4FB67E47}" srcOrd="0" destOrd="0" presId="urn:microsoft.com/office/officeart/2005/8/layout/process1"/>
    <dgm:cxn modelId="{D69B8B36-B67B-4C4F-A5A0-D26E5A8DF163}" srcId="{90BCFFCF-166A-4D70-87D1-D14516387672}" destId="{A674F946-7CE8-4A8F-9132-E6D23EE38250}" srcOrd="1" destOrd="0" parTransId="{2275FA1B-1596-4725-91C2-69C4F332D944}" sibTransId="{E9CC2387-2EC9-4BB3-8D81-64E0632BF0D3}"/>
    <dgm:cxn modelId="{D124443A-F57E-4100-B9E9-F658389A91F8}" type="presOf" srcId="{A674F946-7CE8-4A8F-9132-E6D23EE38250}" destId="{A8E3C83C-2229-4964-B227-589356681117}" srcOrd="0" destOrd="0" presId="urn:microsoft.com/office/officeart/2005/8/layout/process1"/>
    <dgm:cxn modelId="{22C7595C-08E3-4570-8DB6-677F7D04CA71}" type="presOf" srcId="{E9CC2387-2EC9-4BB3-8D81-64E0632BF0D3}" destId="{F7EA0CA1-41BE-430D-8122-8003BD2FE836}" srcOrd="0" destOrd="0" presId="urn:microsoft.com/office/officeart/2005/8/layout/process1"/>
    <dgm:cxn modelId="{F75A805E-1CE3-48FF-8A29-2FE9725A645A}" type="presOf" srcId="{E42D5D8D-B469-4985-ABBE-7BFF16FF14AE}" destId="{F0BB1FFF-3F8B-4846-A4F1-602D138A474E}" srcOrd="0" destOrd="0" presId="urn:microsoft.com/office/officeart/2005/8/layout/process1"/>
    <dgm:cxn modelId="{61E1A15E-19D4-43D3-9F62-2A029E0EE7EB}" type="presOf" srcId="{0ECEF585-D206-42CF-8E8A-F4F3C063F961}" destId="{E5F8D983-B667-496F-A808-9B25607A2417}" srcOrd="0" destOrd="0" presId="urn:microsoft.com/office/officeart/2005/8/layout/process1"/>
    <dgm:cxn modelId="{C5FB0172-DD34-4FAE-BDFA-4977DA34AF77}" srcId="{90BCFFCF-166A-4D70-87D1-D14516387672}" destId="{E42D5D8D-B469-4985-ABBE-7BFF16FF14AE}" srcOrd="0" destOrd="0" parTransId="{F2245A92-5E07-4A6F-A8C9-DED3770367D4}" sibTransId="{0ECEF585-D206-42CF-8E8A-F4F3C063F961}"/>
    <dgm:cxn modelId="{299B42B2-2ABE-4445-859F-9F4D7409B80B}" type="presOf" srcId="{0ECEF585-D206-42CF-8E8A-F4F3C063F961}" destId="{9F13D796-89B8-44C2-857C-7704472366CC}" srcOrd="1" destOrd="0" presId="urn:microsoft.com/office/officeart/2005/8/layout/process1"/>
    <dgm:cxn modelId="{612A82C7-FD06-45F3-9932-BB939891728B}" type="presOf" srcId="{E9CC2387-2EC9-4BB3-8D81-64E0632BF0D3}" destId="{037B1B47-4D3D-416D-9FEC-DE74085E7D24}" srcOrd="1" destOrd="0" presId="urn:microsoft.com/office/officeart/2005/8/layout/process1"/>
    <dgm:cxn modelId="{04A5C1E5-C1C7-45CA-9F99-0B25F621FD62}" type="presOf" srcId="{90BCFFCF-166A-4D70-87D1-D14516387672}" destId="{BF609BD9-0F5D-4B91-8622-7018294BB31E}" srcOrd="0" destOrd="0" presId="urn:microsoft.com/office/officeart/2005/8/layout/process1"/>
    <dgm:cxn modelId="{3AFA2A65-2B75-41FC-A70C-F92E65BE930B}" type="presParOf" srcId="{BF609BD9-0F5D-4B91-8622-7018294BB31E}" destId="{F0BB1FFF-3F8B-4846-A4F1-602D138A474E}" srcOrd="0" destOrd="0" presId="urn:microsoft.com/office/officeart/2005/8/layout/process1"/>
    <dgm:cxn modelId="{EB17D17C-EB62-4D7E-B92A-DC259281C4B3}" type="presParOf" srcId="{BF609BD9-0F5D-4B91-8622-7018294BB31E}" destId="{E5F8D983-B667-496F-A808-9B25607A2417}" srcOrd="1" destOrd="0" presId="urn:microsoft.com/office/officeart/2005/8/layout/process1"/>
    <dgm:cxn modelId="{B94CB46A-0B98-4C63-B986-31D77692D7FA}" type="presParOf" srcId="{E5F8D983-B667-496F-A808-9B25607A2417}" destId="{9F13D796-89B8-44C2-857C-7704472366CC}" srcOrd="0" destOrd="0" presId="urn:microsoft.com/office/officeart/2005/8/layout/process1"/>
    <dgm:cxn modelId="{09AD2B76-D726-4C7B-B6C4-81464152E5FA}" type="presParOf" srcId="{BF609BD9-0F5D-4B91-8622-7018294BB31E}" destId="{A8E3C83C-2229-4964-B227-589356681117}" srcOrd="2" destOrd="0" presId="urn:microsoft.com/office/officeart/2005/8/layout/process1"/>
    <dgm:cxn modelId="{F9E82C61-BF67-4717-BB64-1CCD8F569079}" type="presParOf" srcId="{BF609BD9-0F5D-4B91-8622-7018294BB31E}" destId="{F7EA0CA1-41BE-430D-8122-8003BD2FE836}" srcOrd="3" destOrd="0" presId="urn:microsoft.com/office/officeart/2005/8/layout/process1"/>
    <dgm:cxn modelId="{66C44712-4D32-4919-A740-D0F24DC962CD}" type="presParOf" srcId="{F7EA0CA1-41BE-430D-8122-8003BD2FE836}" destId="{037B1B47-4D3D-416D-9FEC-DE74085E7D24}" srcOrd="0" destOrd="0" presId="urn:microsoft.com/office/officeart/2005/8/layout/process1"/>
    <dgm:cxn modelId="{046A7450-2C61-457F-92D6-632DF1EE69EF}" type="presParOf" srcId="{BF609BD9-0F5D-4B91-8622-7018294BB31E}" destId="{BBF4D389-CB9E-422E-9B55-633D4FB67E47}"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BCFFCF-166A-4D70-87D1-D14516387672}" type="doc">
      <dgm:prSet loTypeId="urn:microsoft.com/office/officeart/2005/8/layout/process1" loCatId="process" qsTypeId="urn:microsoft.com/office/officeart/2005/8/quickstyle/simple1" qsCatId="simple" csTypeId="urn:microsoft.com/office/officeart/2005/8/colors/accent1_2" csCatId="accent1" phldr="1"/>
      <dgm:spPr/>
    </dgm:pt>
    <dgm:pt modelId="{E42D5D8D-B469-4985-ABBE-7BFF16FF14AE}">
      <dgm:prSet phldrT="[Text]" custT="1"/>
      <dgm:spPr>
        <a:solidFill>
          <a:srgbClr val="FFC446"/>
        </a:solidFill>
        <a:ln>
          <a:solidFill>
            <a:schemeClr val="tx1"/>
          </a:solidFill>
        </a:ln>
      </dgm:spPr>
      <dgm:t>
        <a:bodyPr/>
        <a:lstStyle/>
        <a:p>
          <a:r>
            <a:rPr lang="en-US" sz="5400" b="1" dirty="0">
              <a:solidFill>
                <a:schemeClr val="tx1"/>
              </a:solidFill>
            </a:rPr>
            <a:t>Make Poster</a:t>
          </a:r>
        </a:p>
      </dgm:t>
    </dgm:pt>
    <dgm:pt modelId="{F2245A92-5E07-4A6F-A8C9-DED3770367D4}" type="parTrans" cxnId="{C5FB0172-DD34-4FAE-BDFA-4977DA34AF77}">
      <dgm:prSet/>
      <dgm:spPr/>
      <dgm:t>
        <a:bodyPr/>
        <a:lstStyle/>
        <a:p>
          <a:endParaRPr lang="en-US" sz="2000"/>
        </a:p>
      </dgm:t>
    </dgm:pt>
    <dgm:pt modelId="{0ECEF585-D206-42CF-8E8A-F4F3C063F961}" type="sibTrans" cxnId="{C5FB0172-DD34-4FAE-BDFA-4977DA34AF77}">
      <dgm:prSet custT="1"/>
      <dgm:spPr/>
      <dgm:t>
        <a:bodyPr/>
        <a:lstStyle/>
        <a:p>
          <a:endParaRPr lang="en-US" sz="3600"/>
        </a:p>
      </dgm:t>
    </dgm:pt>
    <dgm:pt modelId="{A674F946-7CE8-4A8F-9132-E6D23EE38250}">
      <dgm:prSet phldrT="[Text]" custT="1"/>
      <dgm:spPr>
        <a:solidFill>
          <a:srgbClr val="FFC446"/>
        </a:solidFill>
        <a:ln>
          <a:solidFill>
            <a:schemeClr val="tx1"/>
          </a:solidFill>
        </a:ln>
      </dgm:spPr>
      <dgm:t>
        <a:bodyPr/>
        <a:lstStyle/>
        <a:p>
          <a:r>
            <a:rPr lang="en-US" sz="5400" b="1" dirty="0">
              <a:solidFill>
                <a:schemeClr val="tx1"/>
              </a:solidFill>
            </a:rPr>
            <a:t>Save as PDF</a:t>
          </a:r>
        </a:p>
      </dgm:t>
    </dgm:pt>
    <dgm:pt modelId="{2275FA1B-1596-4725-91C2-69C4F332D944}" type="parTrans" cxnId="{D69B8B36-B67B-4C4F-A5A0-D26E5A8DF163}">
      <dgm:prSet/>
      <dgm:spPr/>
      <dgm:t>
        <a:bodyPr/>
        <a:lstStyle/>
        <a:p>
          <a:endParaRPr lang="en-US" sz="2000"/>
        </a:p>
      </dgm:t>
    </dgm:pt>
    <dgm:pt modelId="{E9CC2387-2EC9-4BB3-8D81-64E0632BF0D3}" type="sibTrans" cxnId="{D69B8B36-B67B-4C4F-A5A0-D26E5A8DF163}">
      <dgm:prSet custT="1"/>
      <dgm:spPr/>
      <dgm:t>
        <a:bodyPr/>
        <a:lstStyle/>
        <a:p>
          <a:endParaRPr lang="en-US" sz="3600"/>
        </a:p>
      </dgm:t>
    </dgm:pt>
    <dgm:pt modelId="{3FE4CB07-69FC-46A1-9161-5F0BDA726531}">
      <dgm:prSet phldrT="[Text]" custT="1"/>
      <dgm:spPr>
        <a:solidFill>
          <a:srgbClr val="FFC446"/>
        </a:solidFill>
        <a:ln>
          <a:solidFill>
            <a:schemeClr val="tx1"/>
          </a:solidFill>
        </a:ln>
      </dgm:spPr>
      <dgm:t>
        <a:bodyPr/>
        <a:lstStyle/>
        <a:p>
          <a:r>
            <a:rPr lang="en-US" sz="5400" b="1" dirty="0">
              <a:solidFill>
                <a:schemeClr val="tx1"/>
              </a:solidFill>
            </a:rPr>
            <a:t>Send to Printer</a:t>
          </a:r>
        </a:p>
      </dgm:t>
    </dgm:pt>
    <dgm:pt modelId="{8A11C461-1C5C-4CBE-B41F-929679DFA63A}" type="parTrans" cxnId="{145EF72E-8137-4392-A36D-80E1D03731E3}">
      <dgm:prSet/>
      <dgm:spPr/>
      <dgm:t>
        <a:bodyPr/>
        <a:lstStyle/>
        <a:p>
          <a:endParaRPr lang="en-US" sz="2000"/>
        </a:p>
      </dgm:t>
    </dgm:pt>
    <dgm:pt modelId="{93C32958-F12A-4DCD-9EE8-B7E4879D7742}" type="sibTrans" cxnId="{145EF72E-8137-4392-A36D-80E1D03731E3}">
      <dgm:prSet/>
      <dgm:spPr/>
      <dgm:t>
        <a:bodyPr/>
        <a:lstStyle/>
        <a:p>
          <a:endParaRPr lang="en-US" sz="2000"/>
        </a:p>
      </dgm:t>
    </dgm:pt>
    <dgm:pt modelId="{BF609BD9-0F5D-4B91-8622-7018294BB31E}" type="pres">
      <dgm:prSet presAssocID="{90BCFFCF-166A-4D70-87D1-D14516387672}" presName="Name0" presStyleCnt="0">
        <dgm:presLayoutVars>
          <dgm:dir/>
          <dgm:resizeHandles val="exact"/>
        </dgm:presLayoutVars>
      </dgm:prSet>
      <dgm:spPr/>
    </dgm:pt>
    <dgm:pt modelId="{F0BB1FFF-3F8B-4846-A4F1-602D138A474E}" type="pres">
      <dgm:prSet presAssocID="{E42D5D8D-B469-4985-ABBE-7BFF16FF14AE}" presName="node" presStyleLbl="node1" presStyleIdx="0" presStyleCnt="3">
        <dgm:presLayoutVars>
          <dgm:bulletEnabled val="1"/>
        </dgm:presLayoutVars>
      </dgm:prSet>
      <dgm:spPr/>
    </dgm:pt>
    <dgm:pt modelId="{E5F8D983-B667-496F-A808-9B25607A2417}" type="pres">
      <dgm:prSet presAssocID="{0ECEF585-D206-42CF-8E8A-F4F3C063F961}" presName="sibTrans" presStyleLbl="sibTrans2D1" presStyleIdx="0" presStyleCnt="2"/>
      <dgm:spPr/>
    </dgm:pt>
    <dgm:pt modelId="{9F13D796-89B8-44C2-857C-7704472366CC}" type="pres">
      <dgm:prSet presAssocID="{0ECEF585-D206-42CF-8E8A-F4F3C063F961}" presName="connectorText" presStyleLbl="sibTrans2D1" presStyleIdx="0" presStyleCnt="2"/>
      <dgm:spPr/>
    </dgm:pt>
    <dgm:pt modelId="{A8E3C83C-2229-4964-B227-589356681117}" type="pres">
      <dgm:prSet presAssocID="{A674F946-7CE8-4A8F-9132-E6D23EE38250}" presName="node" presStyleLbl="node1" presStyleIdx="1" presStyleCnt="3">
        <dgm:presLayoutVars>
          <dgm:bulletEnabled val="1"/>
        </dgm:presLayoutVars>
      </dgm:prSet>
      <dgm:spPr/>
    </dgm:pt>
    <dgm:pt modelId="{F7EA0CA1-41BE-430D-8122-8003BD2FE836}" type="pres">
      <dgm:prSet presAssocID="{E9CC2387-2EC9-4BB3-8D81-64E0632BF0D3}" presName="sibTrans" presStyleLbl="sibTrans2D1" presStyleIdx="1" presStyleCnt="2"/>
      <dgm:spPr/>
    </dgm:pt>
    <dgm:pt modelId="{037B1B47-4D3D-416D-9FEC-DE74085E7D24}" type="pres">
      <dgm:prSet presAssocID="{E9CC2387-2EC9-4BB3-8D81-64E0632BF0D3}" presName="connectorText" presStyleLbl="sibTrans2D1" presStyleIdx="1" presStyleCnt="2"/>
      <dgm:spPr/>
    </dgm:pt>
    <dgm:pt modelId="{BBF4D389-CB9E-422E-9B55-633D4FB67E47}" type="pres">
      <dgm:prSet presAssocID="{3FE4CB07-69FC-46A1-9161-5F0BDA726531}" presName="node" presStyleLbl="node1" presStyleIdx="2" presStyleCnt="3">
        <dgm:presLayoutVars>
          <dgm:bulletEnabled val="1"/>
        </dgm:presLayoutVars>
      </dgm:prSet>
      <dgm:spPr/>
    </dgm:pt>
  </dgm:ptLst>
  <dgm:cxnLst>
    <dgm:cxn modelId="{145EF72E-8137-4392-A36D-80E1D03731E3}" srcId="{90BCFFCF-166A-4D70-87D1-D14516387672}" destId="{3FE4CB07-69FC-46A1-9161-5F0BDA726531}" srcOrd="2" destOrd="0" parTransId="{8A11C461-1C5C-4CBE-B41F-929679DFA63A}" sibTransId="{93C32958-F12A-4DCD-9EE8-B7E4879D7742}"/>
    <dgm:cxn modelId="{5F05F82F-28BF-40CD-BB94-FE06AA7C5DCB}" type="presOf" srcId="{3FE4CB07-69FC-46A1-9161-5F0BDA726531}" destId="{BBF4D389-CB9E-422E-9B55-633D4FB67E47}" srcOrd="0" destOrd="0" presId="urn:microsoft.com/office/officeart/2005/8/layout/process1"/>
    <dgm:cxn modelId="{D69B8B36-B67B-4C4F-A5A0-D26E5A8DF163}" srcId="{90BCFFCF-166A-4D70-87D1-D14516387672}" destId="{A674F946-7CE8-4A8F-9132-E6D23EE38250}" srcOrd="1" destOrd="0" parTransId="{2275FA1B-1596-4725-91C2-69C4F332D944}" sibTransId="{E9CC2387-2EC9-4BB3-8D81-64E0632BF0D3}"/>
    <dgm:cxn modelId="{D124443A-F57E-4100-B9E9-F658389A91F8}" type="presOf" srcId="{A674F946-7CE8-4A8F-9132-E6D23EE38250}" destId="{A8E3C83C-2229-4964-B227-589356681117}" srcOrd="0" destOrd="0" presId="urn:microsoft.com/office/officeart/2005/8/layout/process1"/>
    <dgm:cxn modelId="{22C7595C-08E3-4570-8DB6-677F7D04CA71}" type="presOf" srcId="{E9CC2387-2EC9-4BB3-8D81-64E0632BF0D3}" destId="{F7EA0CA1-41BE-430D-8122-8003BD2FE836}" srcOrd="0" destOrd="0" presId="urn:microsoft.com/office/officeart/2005/8/layout/process1"/>
    <dgm:cxn modelId="{F75A805E-1CE3-48FF-8A29-2FE9725A645A}" type="presOf" srcId="{E42D5D8D-B469-4985-ABBE-7BFF16FF14AE}" destId="{F0BB1FFF-3F8B-4846-A4F1-602D138A474E}" srcOrd="0" destOrd="0" presId="urn:microsoft.com/office/officeart/2005/8/layout/process1"/>
    <dgm:cxn modelId="{61E1A15E-19D4-43D3-9F62-2A029E0EE7EB}" type="presOf" srcId="{0ECEF585-D206-42CF-8E8A-F4F3C063F961}" destId="{E5F8D983-B667-496F-A808-9B25607A2417}" srcOrd="0" destOrd="0" presId="urn:microsoft.com/office/officeart/2005/8/layout/process1"/>
    <dgm:cxn modelId="{C5FB0172-DD34-4FAE-BDFA-4977DA34AF77}" srcId="{90BCFFCF-166A-4D70-87D1-D14516387672}" destId="{E42D5D8D-B469-4985-ABBE-7BFF16FF14AE}" srcOrd="0" destOrd="0" parTransId="{F2245A92-5E07-4A6F-A8C9-DED3770367D4}" sibTransId="{0ECEF585-D206-42CF-8E8A-F4F3C063F961}"/>
    <dgm:cxn modelId="{299B42B2-2ABE-4445-859F-9F4D7409B80B}" type="presOf" srcId="{0ECEF585-D206-42CF-8E8A-F4F3C063F961}" destId="{9F13D796-89B8-44C2-857C-7704472366CC}" srcOrd="1" destOrd="0" presId="urn:microsoft.com/office/officeart/2005/8/layout/process1"/>
    <dgm:cxn modelId="{612A82C7-FD06-45F3-9932-BB939891728B}" type="presOf" srcId="{E9CC2387-2EC9-4BB3-8D81-64E0632BF0D3}" destId="{037B1B47-4D3D-416D-9FEC-DE74085E7D24}" srcOrd="1" destOrd="0" presId="urn:microsoft.com/office/officeart/2005/8/layout/process1"/>
    <dgm:cxn modelId="{04A5C1E5-C1C7-45CA-9F99-0B25F621FD62}" type="presOf" srcId="{90BCFFCF-166A-4D70-87D1-D14516387672}" destId="{BF609BD9-0F5D-4B91-8622-7018294BB31E}" srcOrd="0" destOrd="0" presId="urn:microsoft.com/office/officeart/2005/8/layout/process1"/>
    <dgm:cxn modelId="{3AFA2A65-2B75-41FC-A70C-F92E65BE930B}" type="presParOf" srcId="{BF609BD9-0F5D-4B91-8622-7018294BB31E}" destId="{F0BB1FFF-3F8B-4846-A4F1-602D138A474E}" srcOrd="0" destOrd="0" presId="urn:microsoft.com/office/officeart/2005/8/layout/process1"/>
    <dgm:cxn modelId="{EB17D17C-EB62-4D7E-B92A-DC259281C4B3}" type="presParOf" srcId="{BF609BD9-0F5D-4B91-8622-7018294BB31E}" destId="{E5F8D983-B667-496F-A808-9B25607A2417}" srcOrd="1" destOrd="0" presId="urn:microsoft.com/office/officeart/2005/8/layout/process1"/>
    <dgm:cxn modelId="{B94CB46A-0B98-4C63-B986-31D77692D7FA}" type="presParOf" srcId="{E5F8D983-B667-496F-A808-9B25607A2417}" destId="{9F13D796-89B8-44C2-857C-7704472366CC}" srcOrd="0" destOrd="0" presId="urn:microsoft.com/office/officeart/2005/8/layout/process1"/>
    <dgm:cxn modelId="{09AD2B76-D726-4C7B-B6C4-81464152E5FA}" type="presParOf" srcId="{BF609BD9-0F5D-4B91-8622-7018294BB31E}" destId="{A8E3C83C-2229-4964-B227-589356681117}" srcOrd="2" destOrd="0" presId="urn:microsoft.com/office/officeart/2005/8/layout/process1"/>
    <dgm:cxn modelId="{F9E82C61-BF67-4717-BB64-1CCD8F569079}" type="presParOf" srcId="{BF609BD9-0F5D-4B91-8622-7018294BB31E}" destId="{F7EA0CA1-41BE-430D-8122-8003BD2FE836}" srcOrd="3" destOrd="0" presId="urn:microsoft.com/office/officeart/2005/8/layout/process1"/>
    <dgm:cxn modelId="{66C44712-4D32-4919-A740-D0F24DC962CD}" type="presParOf" srcId="{F7EA0CA1-41BE-430D-8122-8003BD2FE836}" destId="{037B1B47-4D3D-416D-9FEC-DE74085E7D24}" srcOrd="0" destOrd="0" presId="urn:microsoft.com/office/officeart/2005/8/layout/process1"/>
    <dgm:cxn modelId="{046A7450-2C61-457F-92D6-632DF1EE69EF}" type="presParOf" srcId="{BF609BD9-0F5D-4B91-8622-7018294BB31E}" destId="{BBF4D389-CB9E-422E-9B55-633D4FB67E47}"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BB1FFF-3F8B-4846-A4F1-602D138A474E}">
      <dsp:nvSpPr>
        <dsp:cNvPr id="0" name=""/>
        <dsp:cNvSpPr/>
      </dsp:nvSpPr>
      <dsp:spPr>
        <a:xfrm>
          <a:off x="10750" y="2477076"/>
          <a:ext cx="3213185" cy="1927911"/>
        </a:xfrm>
        <a:prstGeom prst="roundRect">
          <a:avLst>
            <a:gd name="adj" fmla="val 10000"/>
          </a:avLst>
        </a:prstGeom>
        <a:solidFill>
          <a:srgbClr val="FFC446"/>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solidFill>
                <a:schemeClr val="tx1"/>
              </a:solidFill>
            </a:rPr>
            <a:t>Make Poster</a:t>
          </a:r>
        </a:p>
      </dsp:txBody>
      <dsp:txXfrm>
        <a:off x="67217" y="2533543"/>
        <a:ext cx="3100251" cy="1814977"/>
      </dsp:txXfrm>
    </dsp:sp>
    <dsp:sp modelId="{E5F8D983-B667-496F-A808-9B25607A2417}">
      <dsp:nvSpPr>
        <dsp:cNvPr id="0" name=""/>
        <dsp:cNvSpPr/>
      </dsp:nvSpPr>
      <dsp:spPr>
        <a:xfrm>
          <a:off x="3545253" y="3042597"/>
          <a:ext cx="681195" cy="79686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3545253" y="3201971"/>
        <a:ext cx="476837" cy="478121"/>
      </dsp:txXfrm>
    </dsp:sp>
    <dsp:sp modelId="{A8E3C83C-2229-4964-B227-589356681117}">
      <dsp:nvSpPr>
        <dsp:cNvPr id="0" name=""/>
        <dsp:cNvSpPr/>
      </dsp:nvSpPr>
      <dsp:spPr>
        <a:xfrm>
          <a:off x="4509209" y="2477076"/>
          <a:ext cx="3213185" cy="1927911"/>
        </a:xfrm>
        <a:prstGeom prst="roundRect">
          <a:avLst>
            <a:gd name="adj" fmla="val 10000"/>
          </a:avLst>
        </a:prstGeom>
        <a:solidFill>
          <a:srgbClr val="FFC446"/>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solidFill>
                <a:schemeClr val="tx1"/>
              </a:solidFill>
            </a:rPr>
            <a:t>Save as PDF</a:t>
          </a:r>
        </a:p>
      </dsp:txBody>
      <dsp:txXfrm>
        <a:off x="4565676" y="2533543"/>
        <a:ext cx="3100251" cy="1814977"/>
      </dsp:txXfrm>
    </dsp:sp>
    <dsp:sp modelId="{F7EA0CA1-41BE-430D-8122-8003BD2FE836}">
      <dsp:nvSpPr>
        <dsp:cNvPr id="0" name=""/>
        <dsp:cNvSpPr/>
      </dsp:nvSpPr>
      <dsp:spPr>
        <a:xfrm>
          <a:off x="8043713" y="3042597"/>
          <a:ext cx="681195" cy="79686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8043713" y="3201971"/>
        <a:ext cx="476837" cy="478121"/>
      </dsp:txXfrm>
    </dsp:sp>
    <dsp:sp modelId="{BBF4D389-CB9E-422E-9B55-633D4FB67E47}">
      <dsp:nvSpPr>
        <dsp:cNvPr id="0" name=""/>
        <dsp:cNvSpPr/>
      </dsp:nvSpPr>
      <dsp:spPr>
        <a:xfrm>
          <a:off x="9007668" y="2477076"/>
          <a:ext cx="3213185" cy="1927911"/>
        </a:xfrm>
        <a:prstGeom prst="roundRect">
          <a:avLst>
            <a:gd name="adj" fmla="val 10000"/>
          </a:avLst>
        </a:prstGeom>
        <a:solidFill>
          <a:srgbClr val="FFC446"/>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solidFill>
                <a:schemeClr val="tx1"/>
              </a:solidFill>
            </a:rPr>
            <a:t>Send to Printer</a:t>
          </a:r>
        </a:p>
      </dsp:txBody>
      <dsp:txXfrm>
        <a:off x="9064135" y="2533543"/>
        <a:ext cx="3100251" cy="18149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BB1FFF-3F8B-4846-A4F1-602D138A474E}">
      <dsp:nvSpPr>
        <dsp:cNvPr id="0" name=""/>
        <dsp:cNvSpPr/>
      </dsp:nvSpPr>
      <dsp:spPr>
        <a:xfrm>
          <a:off x="12496" y="1604199"/>
          <a:ext cx="3735046" cy="2241028"/>
        </a:xfrm>
        <a:prstGeom prst="roundRect">
          <a:avLst>
            <a:gd name="adj" fmla="val 10000"/>
          </a:avLst>
        </a:prstGeom>
        <a:solidFill>
          <a:srgbClr val="FFC446"/>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US" sz="5400" b="1" kern="1200" dirty="0">
              <a:solidFill>
                <a:schemeClr val="tx1"/>
              </a:solidFill>
            </a:rPr>
            <a:t>Make Poster</a:t>
          </a:r>
        </a:p>
      </dsp:txBody>
      <dsp:txXfrm>
        <a:off x="78133" y="1669836"/>
        <a:ext cx="3603772" cy="2109754"/>
      </dsp:txXfrm>
    </dsp:sp>
    <dsp:sp modelId="{E5F8D983-B667-496F-A808-9B25607A2417}">
      <dsp:nvSpPr>
        <dsp:cNvPr id="0" name=""/>
        <dsp:cNvSpPr/>
      </dsp:nvSpPr>
      <dsp:spPr>
        <a:xfrm>
          <a:off x="4121048" y="2261568"/>
          <a:ext cx="791829" cy="9262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121048" y="2446826"/>
        <a:ext cx="554280" cy="555775"/>
      </dsp:txXfrm>
    </dsp:sp>
    <dsp:sp modelId="{A8E3C83C-2229-4964-B227-589356681117}">
      <dsp:nvSpPr>
        <dsp:cNvPr id="0" name=""/>
        <dsp:cNvSpPr/>
      </dsp:nvSpPr>
      <dsp:spPr>
        <a:xfrm>
          <a:off x="5241562" y="1604199"/>
          <a:ext cx="3735046" cy="2241028"/>
        </a:xfrm>
        <a:prstGeom prst="roundRect">
          <a:avLst>
            <a:gd name="adj" fmla="val 10000"/>
          </a:avLst>
        </a:prstGeom>
        <a:solidFill>
          <a:srgbClr val="FFC446"/>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US" sz="5400" b="1" kern="1200" dirty="0">
              <a:solidFill>
                <a:schemeClr val="tx1"/>
              </a:solidFill>
            </a:rPr>
            <a:t>Save as PDF</a:t>
          </a:r>
        </a:p>
      </dsp:txBody>
      <dsp:txXfrm>
        <a:off x="5307199" y="1669836"/>
        <a:ext cx="3603772" cy="2109754"/>
      </dsp:txXfrm>
    </dsp:sp>
    <dsp:sp modelId="{F7EA0CA1-41BE-430D-8122-8003BD2FE836}">
      <dsp:nvSpPr>
        <dsp:cNvPr id="0" name=""/>
        <dsp:cNvSpPr/>
      </dsp:nvSpPr>
      <dsp:spPr>
        <a:xfrm>
          <a:off x="9350113" y="2261568"/>
          <a:ext cx="791829" cy="9262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350113" y="2446826"/>
        <a:ext cx="554280" cy="555775"/>
      </dsp:txXfrm>
    </dsp:sp>
    <dsp:sp modelId="{BBF4D389-CB9E-422E-9B55-633D4FB67E47}">
      <dsp:nvSpPr>
        <dsp:cNvPr id="0" name=""/>
        <dsp:cNvSpPr/>
      </dsp:nvSpPr>
      <dsp:spPr>
        <a:xfrm>
          <a:off x="10470627" y="1604199"/>
          <a:ext cx="3735046" cy="2241028"/>
        </a:xfrm>
        <a:prstGeom prst="roundRect">
          <a:avLst>
            <a:gd name="adj" fmla="val 10000"/>
          </a:avLst>
        </a:prstGeom>
        <a:solidFill>
          <a:srgbClr val="FFC446"/>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US" sz="5400" b="1" kern="1200" dirty="0">
              <a:solidFill>
                <a:schemeClr val="tx1"/>
              </a:solidFill>
            </a:rPr>
            <a:t>Send to Printer</a:t>
          </a:r>
        </a:p>
      </dsp:txBody>
      <dsp:txXfrm>
        <a:off x="10536264" y="1669836"/>
        <a:ext cx="3603772" cy="210975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F0F4125-C181-7349-A317-D14EC1418B08}" type="datetimeFigureOut">
              <a:rPr lang="en-US" smtClean="0"/>
              <a:t>4/1/2025</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7BCB247-20DF-B945-8524-5FB6692B418B}" type="slidenum">
              <a:rPr lang="en-US" smtClean="0"/>
              <a:t>‹#›</a:t>
            </a:fld>
            <a:endParaRPr lang="en-US"/>
          </a:p>
        </p:txBody>
      </p:sp>
    </p:spTree>
    <p:extLst>
      <p:ext uri="{BB962C8B-B14F-4D97-AF65-F5344CB8AC3E}">
        <p14:creationId xmlns:p14="http://schemas.microsoft.com/office/powerpoint/2010/main" val="1266359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37F2D7-2A74-1847-A2F6-9D031F23E278}" type="slidenum">
              <a:rPr lang="en-US" smtClean="0"/>
              <a:t>2</a:t>
            </a:fld>
            <a:endParaRPr lang="en-US"/>
          </a:p>
        </p:txBody>
      </p:sp>
    </p:spTree>
    <p:extLst>
      <p:ext uri="{BB962C8B-B14F-4D97-AF65-F5344CB8AC3E}">
        <p14:creationId xmlns:p14="http://schemas.microsoft.com/office/powerpoint/2010/main" val="422837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A5DCE3-AC11-42FE-9BF9-27A9ABDF5F20}"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1764932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5DCE3-AC11-42FE-9BF9-27A9ABDF5F20}"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656675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A5DCE3-AC11-42FE-9BF9-27A9ABDF5F20}"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3726020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A5DCE3-AC11-42FE-9BF9-27A9ABDF5F20}" type="datetimeFigureOut">
              <a:rPr lang="en-US" smtClean="0"/>
              <a:t>4/1/2025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3242783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A5DCE3-AC11-42FE-9BF9-27A9ABDF5F20}" type="datetimeFigureOut">
              <a:rPr lang="en-US" smtClean="0"/>
              <a:t>4/1/2025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181923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A5DCE3-AC11-42FE-9BF9-27A9ABDF5F20}" type="datetimeFigureOut">
              <a:rPr lang="en-US" smtClean="0"/>
              <a:t>4/1/2025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2164840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5DCE3-AC11-42FE-9BF9-27A9ABDF5F20}" type="datetimeFigureOut">
              <a:rPr lang="en-US" smtClean="0"/>
              <a:t>4/1/2025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436785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7CA5DCE3-AC11-42FE-9BF9-27A9ABDF5F20}" type="datetimeFigureOut">
              <a:rPr lang="en-US" smtClean="0"/>
              <a:t>4/1/2025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2967663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7CA5DCE3-AC11-42FE-9BF9-27A9ABDF5F20}" type="datetimeFigureOut">
              <a:rPr lang="en-US" smtClean="0"/>
              <a:t>4/1/2025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1641647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5DCE3-AC11-42FE-9BF9-27A9ABDF5F20}"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3041316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5DCE3-AC11-42FE-9BF9-27A9ABDF5F20}" type="datetimeFigureOut">
              <a:rPr lang="en-US" smtClean="0"/>
              <a:t>4/1/2025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C9EF5-FD88-4859-9AD7-2B1B56210741}" type="slidenum">
              <a:rPr lang="en-US" smtClean="0"/>
              <a:t>‹#›</a:t>
            </a:fld>
            <a:endParaRPr lang="en-US"/>
          </a:p>
        </p:txBody>
      </p:sp>
    </p:spTree>
    <p:extLst>
      <p:ext uri="{BB962C8B-B14F-4D97-AF65-F5344CB8AC3E}">
        <p14:creationId xmlns:p14="http://schemas.microsoft.com/office/powerpoint/2010/main" val="88029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7CA5DCE3-AC11-42FE-9BF9-27A9ABDF5F20}" type="datetimeFigureOut">
              <a:rPr lang="en-US" smtClean="0"/>
              <a:t>4/1/2025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E31C9EF5-FD88-4859-9AD7-2B1B56210741}" type="slidenum">
              <a:rPr lang="en-US" smtClean="0"/>
              <a:t>‹#›</a:t>
            </a:fld>
            <a:endParaRPr lang="en-US"/>
          </a:p>
        </p:txBody>
      </p:sp>
    </p:spTree>
    <p:extLst>
      <p:ext uri="{BB962C8B-B14F-4D97-AF65-F5344CB8AC3E}">
        <p14:creationId xmlns:p14="http://schemas.microsoft.com/office/powerpoint/2010/main" val="440363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3.beacon-center.org/blog/2019/09/01/the-evolution-of-academic-posters-from-poster-1-0-to-better-poster-2-0-to-hybrid-poster-1-5/" TargetMode="External"/><Relationship Id="rId3" Type="http://schemas.openxmlformats.org/officeDocument/2006/relationships/diagramLayout" Target="../diagrams/layout1.xml"/><Relationship Id="rId7" Type="http://schemas.openxmlformats.org/officeDocument/2006/relationships/chart" Target="../charts/char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2.png"/><Relationship Id="rId4" Type="http://schemas.openxmlformats.org/officeDocument/2006/relationships/diagramQuickStyle" Target="../diagrams/quickStyle1.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5.png"/><Relationship Id="rId4" Type="http://schemas.openxmlformats.org/officeDocument/2006/relationships/diagramData" Target="../diagrams/data2.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a:xfrm>
            <a:off x="1178027" y="17431490"/>
            <a:ext cx="12856115" cy="76644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Diagram 22"/>
          <p:cNvGraphicFramePr/>
          <p:nvPr>
            <p:extLst>
              <p:ext uri="{D42A27DB-BD31-4B8C-83A1-F6EECF244321}">
                <p14:modId xmlns:p14="http://schemas.microsoft.com/office/powerpoint/2010/main" val="4133906063"/>
              </p:ext>
            </p:extLst>
          </p:nvPr>
        </p:nvGraphicFramePr>
        <p:xfrm>
          <a:off x="1490283" y="16357451"/>
          <a:ext cx="12231604" cy="6882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rame 4"/>
          <p:cNvSpPr/>
          <p:nvPr/>
        </p:nvSpPr>
        <p:spPr>
          <a:xfrm>
            <a:off x="522372" y="4991100"/>
            <a:ext cx="14154150" cy="27446037"/>
          </a:xfrm>
          <a:prstGeom prst="frame">
            <a:avLst>
              <a:gd name="adj1" fmla="val 1561"/>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p:cNvSpPr txBox="1"/>
          <p:nvPr/>
        </p:nvSpPr>
        <p:spPr>
          <a:xfrm>
            <a:off x="960522" y="1127417"/>
            <a:ext cx="41643300" cy="1200329"/>
          </a:xfrm>
          <a:prstGeom prst="rect">
            <a:avLst/>
          </a:prstGeom>
          <a:noFill/>
        </p:spPr>
        <p:txBody>
          <a:bodyPr wrap="square" rtlCol="0">
            <a:spAutoFit/>
          </a:bodyPr>
          <a:lstStyle/>
          <a:p>
            <a:pPr algn="ctr" defTabSz="513248" eaLnBrk="0" hangingPunct="0"/>
            <a:r>
              <a:rPr lang="en-US" sz="7200" b="1" dirty="0">
                <a:latin typeface="Calibri" panose="020F0502020204030204" pitchFamily="34" charset="0"/>
                <a:cs typeface="Calibri" panose="020F0502020204030204" pitchFamily="34" charset="0"/>
              </a:rPr>
              <a:t>Title of Your Poster (bold, use approximately size 72 font)</a:t>
            </a:r>
            <a:endParaRPr lang="en-US" sz="5400" i="1" dirty="0">
              <a:latin typeface="Calibri" panose="020F0502020204030204" pitchFamily="34" charset="0"/>
              <a:cs typeface="Calibri" panose="020F0502020204030204" pitchFamily="34" charset="0"/>
            </a:endParaRPr>
          </a:p>
        </p:txBody>
      </p:sp>
      <p:sp>
        <p:nvSpPr>
          <p:cNvPr id="7" name="Frame 6"/>
          <p:cNvSpPr/>
          <p:nvPr/>
        </p:nvSpPr>
        <p:spPr>
          <a:xfrm>
            <a:off x="503322" y="609600"/>
            <a:ext cx="42862500" cy="4191000"/>
          </a:xfrm>
          <a:prstGeom prst="frame">
            <a:avLst>
              <a:gd name="adj1" fmla="val 5457"/>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ame 15"/>
          <p:cNvSpPr/>
          <p:nvPr/>
        </p:nvSpPr>
        <p:spPr>
          <a:xfrm>
            <a:off x="14876547" y="4991099"/>
            <a:ext cx="14154150" cy="27446038"/>
          </a:xfrm>
          <a:prstGeom prst="frame">
            <a:avLst>
              <a:gd name="adj1" fmla="val 1561"/>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p:cNvSpPr/>
          <p:nvPr/>
        </p:nvSpPr>
        <p:spPr>
          <a:xfrm>
            <a:off x="29230722" y="4991099"/>
            <a:ext cx="14154150" cy="27446038"/>
          </a:xfrm>
          <a:prstGeom prst="frame">
            <a:avLst>
              <a:gd name="adj1" fmla="val 1561"/>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Rectangle 31"/>
          <p:cNvSpPr/>
          <p:nvPr/>
        </p:nvSpPr>
        <p:spPr>
          <a:xfrm>
            <a:off x="1175395" y="5634355"/>
            <a:ext cx="12856115" cy="76644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3677152" y="5538103"/>
            <a:ext cx="7844589" cy="923330"/>
          </a:xfrm>
          <a:prstGeom prst="rect">
            <a:avLst/>
          </a:prstGeom>
          <a:noFill/>
        </p:spPr>
        <p:txBody>
          <a:bodyPr wrap="square" rtlCol="0">
            <a:spAutoFit/>
          </a:bodyPr>
          <a:lstStyle/>
          <a:p>
            <a:pPr algn="ctr"/>
            <a:r>
              <a:rPr lang="en-US" sz="5400" b="1" dirty="0">
                <a:solidFill>
                  <a:srgbClr val="F8F8F8"/>
                </a:solidFill>
              </a:rPr>
              <a:t>Heading (approx. 54)</a:t>
            </a:r>
          </a:p>
        </p:txBody>
      </p:sp>
      <p:sp>
        <p:nvSpPr>
          <p:cNvPr id="19" name="TextBox 18"/>
          <p:cNvSpPr txBox="1"/>
          <p:nvPr/>
        </p:nvSpPr>
        <p:spPr>
          <a:xfrm>
            <a:off x="1100261" y="6488875"/>
            <a:ext cx="12861380" cy="11572399"/>
          </a:xfrm>
          <a:prstGeom prst="rect">
            <a:avLst/>
          </a:prstGeom>
          <a:noFill/>
        </p:spPr>
        <p:txBody>
          <a:bodyPr wrap="square" rtlCol="0">
            <a:spAutoFit/>
          </a:bodyPr>
          <a:lstStyle/>
          <a:p>
            <a:pPr marL="571500" indent="-571500">
              <a:buFont typeface="Arial" panose="020B0604020202020204" pitchFamily="34" charset="0"/>
              <a:buChar char="•"/>
            </a:pPr>
            <a:r>
              <a:rPr lang="en-US" sz="4200" dirty="0"/>
              <a:t>Your heading should always be larger than your body  text font size, but not nearly as large as your title above</a:t>
            </a:r>
          </a:p>
          <a:p>
            <a:pPr marL="571500" indent="-571500">
              <a:buFont typeface="Arial" panose="020B0604020202020204" pitchFamily="34" charset="0"/>
              <a:buChar char="•"/>
            </a:pPr>
            <a:r>
              <a:rPr lang="en-US" sz="4200" dirty="0"/>
              <a:t>Your body text should be approximately 40-44 sized font, and definitely no smaller than 36-38. </a:t>
            </a:r>
          </a:p>
          <a:p>
            <a:pPr marL="571500" indent="-571500">
              <a:buFont typeface="Arial" panose="020B0604020202020204" pitchFamily="34" charset="0"/>
              <a:buChar char="•"/>
            </a:pPr>
            <a:r>
              <a:rPr lang="en-US" sz="4200" dirty="0"/>
              <a:t>You can also use subheadings in this section to organize your text better</a:t>
            </a:r>
          </a:p>
          <a:p>
            <a:pPr marL="571500" indent="-571500">
              <a:buFont typeface="Arial" panose="020B0604020202020204" pitchFamily="34" charset="0"/>
              <a:buChar char="•"/>
            </a:pPr>
            <a:r>
              <a:rPr lang="en-US" sz="4200" dirty="0"/>
              <a:t>You should think of ways to break down your info into meaningful CONCISE chunks. Add text</a:t>
            </a:r>
          </a:p>
          <a:p>
            <a:pPr marL="571500" indent="-571500">
              <a:buFont typeface="Arial" panose="020B0604020202020204" pitchFamily="34" charset="0"/>
              <a:buChar char="•"/>
            </a:pPr>
            <a:endParaRPr lang="en-US" sz="3200" dirty="0">
              <a:solidFill>
                <a:srgbClr val="7030A0"/>
              </a:solidFill>
            </a:endParaRPr>
          </a:p>
          <a:p>
            <a:r>
              <a:rPr lang="en-US" sz="4800" b="1" dirty="0">
                <a:solidFill>
                  <a:srgbClr val="7030A0"/>
                </a:solidFill>
              </a:rPr>
              <a:t>Subheading (approx. 44-48)</a:t>
            </a:r>
          </a:p>
          <a:p>
            <a:pPr marL="571500" indent="-571500">
              <a:buFont typeface="Arial" panose="020B0604020202020204" pitchFamily="34" charset="0"/>
              <a:buChar char="•"/>
            </a:pPr>
            <a:r>
              <a:rPr lang="en-US" sz="4200" dirty="0"/>
              <a:t>Use bullet points when possible: the fewer words the better</a:t>
            </a:r>
          </a:p>
          <a:p>
            <a:pPr marL="571500" indent="-571500">
              <a:buFont typeface="Arial" panose="020B0604020202020204" pitchFamily="34" charset="0"/>
              <a:buChar char="•"/>
            </a:pPr>
            <a:endParaRPr lang="en-US" sz="3200" dirty="0">
              <a:solidFill>
                <a:srgbClr val="7030A0"/>
              </a:solidFill>
            </a:endParaRPr>
          </a:p>
          <a:p>
            <a:r>
              <a:rPr lang="en-US" sz="4800" b="1" dirty="0">
                <a:solidFill>
                  <a:srgbClr val="7030A0"/>
                </a:solidFill>
              </a:rPr>
              <a:t>Subheading (approx. 44-48)</a:t>
            </a:r>
            <a:endParaRPr lang="en-US" sz="4800" dirty="0">
              <a:solidFill>
                <a:srgbClr val="7030A0"/>
              </a:solidFill>
            </a:endParaRPr>
          </a:p>
          <a:p>
            <a:pPr marL="571500" indent="-571500">
              <a:buFont typeface="Arial" panose="020B0604020202020204" pitchFamily="34" charset="0"/>
              <a:buChar char="•"/>
            </a:pPr>
            <a:r>
              <a:rPr lang="en-US" sz="4200" dirty="0"/>
              <a:t>Use ONE font throughout the poster</a:t>
            </a:r>
          </a:p>
          <a:p>
            <a:pPr marL="571500" indent="-571500">
              <a:buFont typeface="Arial" panose="020B0604020202020204" pitchFamily="34" charset="0"/>
              <a:buChar char="•"/>
            </a:pPr>
            <a:r>
              <a:rPr lang="en-US" sz="4200" dirty="0"/>
              <a:t>This means one font for all titles, headings, subheadings, and body text</a:t>
            </a:r>
          </a:p>
          <a:p>
            <a:pPr marL="571500" indent="-571500">
              <a:buFont typeface="Arial" panose="020B0604020202020204" pitchFamily="34" charset="0"/>
              <a:buChar char="•"/>
            </a:pPr>
            <a:endParaRPr lang="en-US" sz="4000" dirty="0"/>
          </a:p>
        </p:txBody>
      </p:sp>
      <p:sp>
        <p:nvSpPr>
          <p:cNvPr id="20" name="TextBox 19"/>
          <p:cNvSpPr txBox="1"/>
          <p:nvPr/>
        </p:nvSpPr>
        <p:spPr>
          <a:xfrm>
            <a:off x="3677152" y="17319094"/>
            <a:ext cx="7844589" cy="923330"/>
          </a:xfrm>
          <a:prstGeom prst="rect">
            <a:avLst/>
          </a:prstGeom>
          <a:noFill/>
        </p:spPr>
        <p:txBody>
          <a:bodyPr wrap="square" rtlCol="0">
            <a:spAutoFit/>
          </a:bodyPr>
          <a:lstStyle/>
          <a:p>
            <a:pPr algn="ctr"/>
            <a:r>
              <a:rPr lang="en-US" sz="5400" b="1" dirty="0">
                <a:solidFill>
                  <a:srgbClr val="F8F8F8"/>
                </a:solidFill>
              </a:rPr>
              <a:t>Heading (approx. 54)</a:t>
            </a:r>
          </a:p>
        </p:txBody>
      </p:sp>
      <p:sp>
        <p:nvSpPr>
          <p:cNvPr id="27" name="TextBox 26"/>
          <p:cNvSpPr txBox="1"/>
          <p:nvPr/>
        </p:nvSpPr>
        <p:spPr>
          <a:xfrm>
            <a:off x="1490283" y="21140064"/>
            <a:ext cx="12263188" cy="2308324"/>
          </a:xfrm>
          <a:prstGeom prst="rect">
            <a:avLst/>
          </a:prstGeom>
          <a:noFill/>
        </p:spPr>
        <p:txBody>
          <a:bodyPr wrap="square" rtlCol="0">
            <a:spAutoFit/>
          </a:bodyPr>
          <a:lstStyle/>
          <a:p>
            <a:r>
              <a:rPr lang="en-US" sz="3600" b="1" dirty="0"/>
              <a:t>Figure 1. The research poster process</a:t>
            </a:r>
          </a:p>
          <a:p>
            <a:r>
              <a:rPr lang="en-US" sz="3600" b="1" dirty="0"/>
              <a:t>(Figure caption approx. size 36 font, bold. It is not recommended to go smaller than this, as it will be difficult for people to read the poster at a distance)</a:t>
            </a:r>
          </a:p>
        </p:txBody>
      </p:sp>
      <p:sp>
        <p:nvSpPr>
          <p:cNvPr id="29" name="TextBox 28"/>
          <p:cNvSpPr txBox="1"/>
          <p:nvPr/>
        </p:nvSpPr>
        <p:spPr>
          <a:xfrm>
            <a:off x="1175395" y="23591156"/>
            <a:ext cx="12711109" cy="3293209"/>
          </a:xfrm>
          <a:prstGeom prst="rect">
            <a:avLst/>
          </a:prstGeom>
          <a:noFill/>
        </p:spPr>
        <p:txBody>
          <a:bodyPr wrap="square" rtlCol="0">
            <a:spAutoFit/>
          </a:bodyPr>
          <a:lstStyle/>
          <a:p>
            <a:pPr marL="571500" indent="-571500">
              <a:buFont typeface="Arial" panose="020B0604020202020204" pitchFamily="34" charset="0"/>
              <a:buChar char="•"/>
            </a:pPr>
            <a:r>
              <a:rPr lang="en-US" sz="4200" dirty="0"/>
              <a:t>Use figures instead of text when possible</a:t>
            </a:r>
          </a:p>
          <a:p>
            <a:pPr marL="571500" indent="-571500">
              <a:buFont typeface="Arial" panose="020B0604020202020204" pitchFamily="34" charset="0"/>
              <a:buChar char="•"/>
            </a:pPr>
            <a:r>
              <a:rPr lang="en-US" sz="4200" dirty="0"/>
              <a:t>You can create figures by going to “insert” “smart art”</a:t>
            </a:r>
          </a:p>
          <a:p>
            <a:pPr marL="571500" indent="-571500">
              <a:buFont typeface="Arial" panose="020B0604020202020204" pitchFamily="34" charset="0"/>
              <a:buChar char="•"/>
            </a:pPr>
            <a:r>
              <a:rPr lang="en-US" sz="4200" dirty="0"/>
              <a:t>This makes your poster more visually appealing, and makes it easier for your audience to understand</a:t>
            </a:r>
          </a:p>
          <a:p>
            <a:pPr marL="571500" indent="-571500">
              <a:buFont typeface="Arial" panose="020B0604020202020204" pitchFamily="34" charset="0"/>
              <a:buChar char="•"/>
            </a:pPr>
            <a:endParaRPr lang="en-US" sz="4000" dirty="0"/>
          </a:p>
        </p:txBody>
      </p:sp>
      <p:sp>
        <p:nvSpPr>
          <p:cNvPr id="31" name="TextBox 30"/>
          <p:cNvSpPr txBox="1"/>
          <p:nvPr/>
        </p:nvSpPr>
        <p:spPr>
          <a:xfrm>
            <a:off x="1175395" y="26551085"/>
            <a:ext cx="13001119" cy="5324535"/>
          </a:xfrm>
          <a:prstGeom prst="rect">
            <a:avLst/>
          </a:prstGeom>
          <a:noFill/>
        </p:spPr>
        <p:txBody>
          <a:bodyPr wrap="square" rtlCol="0">
            <a:spAutoFit/>
          </a:bodyPr>
          <a:lstStyle/>
          <a:p>
            <a:r>
              <a:rPr lang="en-US" sz="4800" b="1" dirty="0">
                <a:solidFill>
                  <a:srgbClr val="7030A0"/>
                </a:solidFill>
              </a:rPr>
              <a:t>Sizing Your Poster</a:t>
            </a:r>
            <a:endParaRPr lang="en-US" sz="4800" dirty="0"/>
          </a:p>
          <a:p>
            <a:pPr marL="571500" indent="-571500">
              <a:buFont typeface="Arial" panose="020B0604020202020204" pitchFamily="34" charset="0"/>
              <a:buChar char="•"/>
            </a:pPr>
            <a:r>
              <a:rPr lang="en-US" sz="4200" dirty="0"/>
              <a:t>Your overall poster size should not exceed 36 x 48 inches</a:t>
            </a:r>
          </a:p>
          <a:p>
            <a:pPr marL="571500" indent="-571500">
              <a:buFont typeface="Arial" panose="020B0604020202020204" pitchFamily="34" charset="0"/>
              <a:buChar char="•"/>
            </a:pPr>
            <a:r>
              <a:rPr lang="en-US" sz="4200" dirty="0"/>
              <a:t>You should always adjust the slide size BEFORE you start building your poster</a:t>
            </a:r>
          </a:p>
          <a:p>
            <a:pPr marL="571500" indent="-571500">
              <a:buFont typeface="Arial" panose="020B0604020202020204" pitchFamily="34" charset="0"/>
              <a:buChar char="•"/>
            </a:pPr>
            <a:r>
              <a:rPr lang="en-US" sz="4200" dirty="0"/>
              <a:t>You can adjust the slide size by going to the “design” tab, clicking the dropdown menu for slide size, and clicking “custom slide size”</a:t>
            </a:r>
          </a:p>
          <a:p>
            <a:pPr marL="571500" indent="-571500">
              <a:buFont typeface="Arial" panose="020B0604020202020204" pitchFamily="34" charset="0"/>
              <a:buChar char="•"/>
            </a:pPr>
            <a:endParaRPr lang="en-US" sz="4000" dirty="0"/>
          </a:p>
        </p:txBody>
      </p:sp>
      <p:sp>
        <p:nvSpPr>
          <p:cNvPr id="35" name="Rectangle 34"/>
          <p:cNvSpPr/>
          <p:nvPr/>
        </p:nvSpPr>
        <p:spPr>
          <a:xfrm>
            <a:off x="15473923" y="5694990"/>
            <a:ext cx="12856115" cy="76644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17975680" y="5598738"/>
            <a:ext cx="7844589" cy="923330"/>
          </a:xfrm>
          <a:prstGeom prst="rect">
            <a:avLst/>
          </a:prstGeom>
          <a:noFill/>
        </p:spPr>
        <p:txBody>
          <a:bodyPr wrap="square" rtlCol="0">
            <a:spAutoFit/>
          </a:bodyPr>
          <a:lstStyle/>
          <a:p>
            <a:pPr algn="ctr"/>
            <a:r>
              <a:rPr lang="en-US" sz="5400" b="1" dirty="0">
                <a:solidFill>
                  <a:srgbClr val="F8F8F8"/>
                </a:solidFill>
              </a:rPr>
              <a:t>Heading (approx. 54)</a:t>
            </a:r>
          </a:p>
        </p:txBody>
      </p:sp>
      <p:sp>
        <p:nvSpPr>
          <p:cNvPr id="21" name="TextBox 20"/>
          <p:cNvSpPr txBox="1"/>
          <p:nvPr/>
        </p:nvSpPr>
        <p:spPr>
          <a:xfrm>
            <a:off x="15624437" y="6712567"/>
            <a:ext cx="12861380" cy="10802957"/>
          </a:xfrm>
          <a:prstGeom prst="rect">
            <a:avLst/>
          </a:prstGeom>
          <a:noFill/>
        </p:spPr>
        <p:txBody>
          <a:bodyPr wrap="square" rtlCol="0">
            <a:spAutoFit/>
          </a:bodyPr>
          <a:lstStyle/>
          <a:p>
            <a:pPr marL="571500" indent="-571500">
              <a:buFont typeface="Arial" panose="020B0604020202020204" pitchFamily="34" charset="0"/>
              <a:buChar char="•"/>
            </a:pPr>
            <a:r>
              <a:rPr lang="en-US" sz="4200" dirty="0"/>
              <a:t>Many posters use the three column approach like you see here, but that is not the only way to structure your poster</a:t>
            </a:r>
          </a:p>
          <a:p>
            <a:pPr marL="571500" indent="-571500">
              <a:buFont typeface="Arial" panose="020B0604020202020204" pitchFamily="34" charset="0"/>
              <a:buChar char="•"/>
            </a:pPr>
            <a:r>
              <a:rPr lang="en-US" sz="4200" dirty="0"/>
              <a:t>Be creative! Don’t just copy another template exactly</a:t>
            </a:r>
          </a:p>
          <a:p>
            <a:pPr marL="571500" indent="-571500">
              <a:buFont typeface="Arial" panose="020B0604020202020204" pitchFamily="34" charset="0"/>
              <a:buChar char="•"/>
            </a:pPr>
            <a:r>
              <a:rPr lang="en-US" sz="4200" dirty="0"/>
              <a:t>Things to remember when being creative:</a:t>
            </a:r>
            <a:br>
              <a:rPr lang="en-US" sz="4200" dirty="0"/>
            </a:br>
            <a:r>
              <a:rPr lang="en-US" sz="2400" dirty="0"/>
              <a:t> </a:t>
            </a:r>
            <a:r>
              <a:rPr lang="en-US" sz="1600" dirty="0"/>
              <a:t> </a:t>
            </a:r>
            <a:r>
              <a:rPr lang="en-US" sz="1400" dirty="0"/>
              <a:t> </a:t>
            </a:r>
            <a:endParaRPr lang="en-US" sz="2400" dirty="0"/>
          </a:p>
          <a:p>
            <a:pPr marL="742950" indent="-742950">
              <a:buFont typeface="+mj-lt"/>
              <a:buAutoNum type="arabicPeriod"/>
            </a:pPr>
            <a:r>
              <a:rPr lang="en-US" sz="4200" dirty="0">
                <a:solidFill>
                  <a:srgbClr val="7030A0"/>
                </a:solidFill>
              </a:rPr>
              <a:t>Keep things consistent. </a:t>
            </a:r>
            <a:r>
              <a:rPr lang="en-US" sz="4200" dirty="0"/>
              <a:t>If you want to make your headings purple, make all similar headings purple</a:t>
            </a:r>
          </a:p>
          <a:p>
            <a:pPr marL="742950" indent="-742950">
              <a:buFont typeface="+mj-lt"/>
              <a:buAutoNum type="arabicPeriod"/>
            </a:pPr>
            <a:r>
              <a:rPr lang="en-US" sz="4200" dirty="0">
                <a:solidFill>
                  <a:srgbClr val="7030A0"/>
                </a:solidFill>
              </a:rPr>
              <a:t>Don’t overdo it on colors. </a:t>
            </a:r>
            <a:r>
              <a:rPr lang="en-US" sz="4200" dirty="0"/>
              <a:t>Color can be really useful for highlighting information and breaking up text, but too much color can be distracting</a:t>
            </a:r>
          </a:p>
          <a:p>
            <a:pPr marL="742950" indent="-742950">
              <a:buFont typeface="+mj-lt"/>
              <a:buAutoNum type="arabicPeriod"/>
            </a:pPr>
            <a:r>
              <a:rPr lang="en-US" sz="4200" dirty="0">
                <a:solidFill>
                  <a:srgbClr val="7030A0"/>
                </a:solidFill>
              </a:rPr>
              <a:t>Choose colors and fonts that people can read.</a:t>
            </a:r>
            <a:r>
              <a:rPr lang="en-US" sz="4200" dirty="0"/>
              <a:t> (Don’t put your headings in a light yellow!)</a:t>
            </a:r>
          </a:p>
          <a:p>
            <a:endParaRPr lang="en-US" sz="4200" dirty="0"/>
          </a:p>
          <a:p>
            <a:endParaRPr lang="en-US" sz="4400" dirty="0">
              <a:solidFill>
                <a:srgbClr val="7030A0"/>
              </a:solidFill>
            </a:endParaRPr>
          </a:p>
          <a:p>
            <a:endParaRPr lang="en-US" sz="4200" dirty="0"/>
          </a:p>
          <a:p>
            <a:pPr marL="571500" indent="-571500">
              <a:buFont typeface="Arial" panose="020B0604020202020204" pitchFamily="34" charset="0"/>
              <a:buChar char="•"/>
            </a:pPr>
            <a:endParaRPr lang="en-US" sz="4000" dirty="0"/>
          </a:p>
        </p:txBody>
      </p:sp>
      <p:graphicFrame>
        <p:nvGraphicFramePr>
          <p:cNvPr id="22" name="Chart 21"/>
          <p:cNvGraphicFramePr>
            <a:graphicFrameLocks/>
          </p:cNvGraphicFramePr>
          <p:nvPr>
            <p:extLst>
              <p:ext uri="{D42A27DB-BD31-4B8C-83A1-F6EECF244321}">
                <p14:modId xmlns:p14="http://schemas.microsoft.com/office/powerpoint/2010/main" val="3947475338"/>
              </p:ext>
            </p:extLst>
          </p:nvPr>
        </p:nvGraphicFramePr>
        <p:xfrm>
          <a:off x="15447406" y="15142196"/>
          <a:ext cx="7805741" cy="729502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3"/>
          <p:cNvSpPr txBox="1"/>
          <p:nvPr/>
        </p:nvSpPr>
        <p:spPr>
          <a:xfrm>
            <a:off x="15739628" y="22437216"/>
            <a:ext cx="12263188" cy="646331"/>
          </a:xfrm>
          <a:prstGeom prst="rect">
            <a:avLst/>
          </a:prstGeom>
          <a:noFill/>
        </p:spPr>
        <p:txBody>
          <a:bodyPr wrap="square" rtlCol="0">
            <a:spAutoFit/>
          </a:bodyPr>
          <a:lstStyle/>
          <a:p>
            <a:r>
              <a:rPr lang="en-US" sz="3600" b="1" dirty="0"/>
              <a:t>Figure 2. Student Presenters at XX Conference in 2017</a:t>
            </a:r>
          </a:p>
        </p:txBody>
      </p:sp>
      <p:graphicFrame>
        <p:nvGraphicFramePr>
          <p:cNvPr id="2" name="Table 1"/>
          <p:cNvGraphicFramePr>
            <a:graphicFrameLocks noGrp="1"/>
          </p:cNvGraphicFramePr>
          <p:nvPr>
            <p:extLst>
              <p:ext uri="{D42A27DB-BD31-4B8C-83A1-F6EECF244321}">
                <p14:modId xmlns:p14="http://schemas.microsoft.com/office/powerpoint/2010/main" val="1749387237"/>
              </p:ext>
            </p:extLst>
          </p:nvPr>
        </p:nvGraphicFramePr>
        <p:xfrm>
          <a:off x="15811625" y="27974461"/>
          <a:ext cx="12263187" cy="3017520"/>
        </p:xfrm>
        <a:graphic>
          <a:graphicData uri="http://schemas.openxmlformats.org/drawingml/2006/table">
            <a:tbl>
              <a:tblPr firstRow="1" bandRow="1">
                <a:tableStyleId>{5C22544A-7EE6-4342-B048-85BDC9FD1C3A}</a:tableStyleId>
              </a:tblPr>
              <a:tblGrid>
                <a:gridCol w="4087729">
                  <a:extLst>
                    <a:ext uri="{9D8B030D-6E8A-4147-A177-3AD203B41FA5}">
                      <a16:colId xmlns:a16="http://schemas.microsoft.com/office/drawing/2014/main" val="20000"/>
                    </a:ext>
                  </a:extLst>
                </a:gridCol>
                <a:gridCol w="4087729">
                  <a:extLst>
                    <a:ext uri="{9D8B030D-6E8A-4147-A177-3AD203B41FA5}">
                      <a16:colId xmlns:a16="http://schemas.microsoft.com/office/drawing/2014/main" val="20001"/>
                    </a:ext>
                  </a:extLst>
                </a:gridCol>
                <a:gridCol w="4087729">
                  <a:extLst>
                    <a:ext uri="{9D8B030D-6E8A-4147-A177-3AD203B41FA5}">
                      <a16:colId xmlns:a16="http://schemas.microsoft.com/office/drawing/2014/main" val="20002"/>
                    </a:ext>
                  </a:extLst>
                </a:gridCol>
              </a:tblGrid>
              <a:tr h="533584">
                <a:tc>
                  <a:txBody>
                    <a:bodyPr/>
                    <a:lstStyle/>
                    <a:p>
                      <a:pPr algn="ctr"/>
                      <a:r>
                        <a:rPr lang="en-US" sz="4800" dirty="0"/>
                        <a:t>Place</a:t>
                      </a:r>
                    </a:p>
                  </a:txBody>
                  <a:tcPr/>
                </a:tc>
                <a:tc>
                  <a:txBody>
                    <a:bodyPr/>
                    <a:lstStyle/>
                    <a:p>
                      <a:pPr algn="ctr"/>
                      <a:r>
                        <a:rPr lang="en-US" sz="4800" dirty="0"/>
                        <a:t>Discipline</a:t>
                      </a:r>
                    </a:p>
                  </a:txBody>
                  <a:tcPr/>
                </a:tc>
                <a:tc>
                  <a:txBody>
                    <a:bodyPr/>
                    <a:lstStyle/>
                    <a:p>
                      <a:pPr algn="ctr"/>
                      <a:r>
                        <a:rPr lang="en-US" sz="4800" dirty="0"/>
                        <a:t>Student Status</a:t>
                      </a:r>
                      <a:endParaRPr lang="en-US" sz="4800" baseline="0" dirty="0"/>
                    </a:p>
                  </a:txBody>
                  <a:tcPr/>
                </a:tc>
                <a:extLst>
                  <a:ext uri="{0D108BD9-81ED-4DB2-BD59-A6C34878D82A}">
                    <a16:rowId xmlns:a16="http://schemas.microsoft.com/office/drawing/2014/main" val="10000"/>
                  </a:ext>
                </a:extLst>
              </a:tr>
              <a:tr h="533584">
                <a:tc>
                  <a:txBody>
                    <a:bodyPr/>
                    <a:lstStyle/>
                    <a:p>
                      <a:pPr algn="ctr"/>
                      <a:r>
                        <a:rPr lang="en-US" sz="4200" dirty="0"/>
                        <a:t>First</a:t>
                      </a:r>
                    </a:p>
                  </a:txBody>
                  <a:tcPr/>
                </a:tc>
                <a:tc>
                  <a:txBody>
                    <a:bodyPr/>
                    <a:lstStyle/>
                    <a:p>
                      <a:pPr algn="ctr"/>
                      <a:r>
                        <a:rPr lang="en-US" sz="4200" dirty="0"/>
                        <a:t>Cybersecurity</a:t>
                      </a:r>
                    </a:p>
                  </a:txBody>
                  <a:tcPr/>
                </a:tc>
                <a:tc>
                  <a:txBody>
                    <a:bodyPr/>
                    <a:lstStyle/>
                    <a:p>
                      <a:pPr algn="ctr"/>
                      <a:r>
                        <a:rPr lang="en-US" sz="4200" dirty="0"/>
                        <a:t>Undergraduate</a:t>
                      </a:r>
                    </a:p>
                  </a:txBody>
                  <a:tcPr/>
                </a:tc>
                <a:extLst>
                  <a:ext uri="{0D108BD9-81ED-4DB2-BD59-A6C34878D82A}">
                    <a16:rowId xmlns:a16="http://schemas.microsoft.com/office/drawing/2014/main" val="10001"/>
                  </a:ext>
                </a:extLst>
              </a:tr>
              <a:tr h="533584">
                <a:tc>
                  <a:txBody>
                    <a:bodyPr/>
                    <a:lstStyle/>
                    <a:p>
                      <a:pPr algn="ctr"/>
                      <a:r>
                        <a:rPr lang="en-US" sz="4200" dirty="0"/>
                        <a:t>Second</a:t>
                      </a:r>
                    </a:p>
                  </a:txBody>
                  <a:tcPr anchor="ctr"/>
                </a:tc>
                <a:tc>
                  <a:txBody>
                    <a:bodyPr/>
                    <a:lstStyle/>
                    <a:p>
                      <a:pPr algn="ctr"/>
                      <a:r>
                        <a:rPr lang="en-US" sz="4200" dirty="0"/>
                        <a:t>Sociology</a:t>
                      </a:r>
                    </a:p>
                  </a:txBody>
                  <a:tcPr anchor="ctr"/>
                </a:tc>
                <a:tc>
                  <a:txBody>
                    <a:bodyPr/>
                    <a:lstStyle/>
                    <a:p>
                      <a:pPr algn="ctr"/>
                      <a:r>
                        <a:rPr lang="en-US" sz="4200" dirty="0"/>
                        <a:t>Graduate</a:t>
                      </a:r>
                    </a:p>
                  </a:txBody>
                  <a:tcPr anchor="ctr"/>
                </a:tc>
                <a:extLst>
                  <a:ext uri="{0D108BD9-81ED-4DB2-BD59-A6C34878D82A}">
                    <a16:rowId xmlns:a16="http://schemas.microsoft.com/office/drawing/2014/main" val="10002"/>
                  </a:ext>
                </a:extLst>
              </a:tr>
              <a:tr h="533584">
                <a:tc>
                  <a:txBody>
                    <a:bodyPr/>
                    <a:lstStyle/>
                    <a:p>
                      <a:pPr algn="ctr"/>
                      <a:r>
                        <a:rPr lang="en-US" sz="4200" dirty="0"/>
                        <a:t>Third</a:t>
                      </a:r>
                    </a:p>
                  </a:txBody>
                  <a:tcPr anchor="ctr"/>
                </a:tc>
                <a:tc>
                  <a:txBody>
                    <a:bodyPr/>
                    <a:lstStyle/>
                    <a:p>
                      <a:pPr algn="ctr"/>
                      <a:r>
                        <a:rPr lang="en-US" sz="4200" dirty="0"/>
                        <a:t>Chemistry</a:t>
                      </a:r>
                    </a:p>
                  </a:txBody>
                  <a:tcPr anchor="ctr"/>
                </a:tc>
                <a:tc>
                  <a:txBody>
                    <a:bodyPr/>
                    <a:lstStyle/>
                    <a:p>
                      <a:pPr algn="ctr"/>
                      <a:r>
                        <a:rPr lang="en-US" sz="4200" dirty="0"/>
                        <a:t>Undergraduate</a:t>
                      </a:r>
                    </a:p>
                  </a:txBody>
                  <a:tcPr anchor="ctr"/>
                </a:tc>
                <a:extLst>
                  <a:ext uri="{0D108BD9-81ED-4DB2-BD59-A6C34878D82A}">
                    <a16:rowId xmlns:a16="http://schemas.microsoft.com/office/drawing/2014/main" val="10003"/>
                  </a:ext>
                </a:extLst>
              </a:tr>
            </a:tbl>
          </a:graphicData>
        </a:graphic>
      </p:graphicFrame>
      <p:sp>
        <p:nvSpPr>
          <p:cNvPr id="26" name="TextBox 25"/>
          <p:cNvSpPr txBox="1"/>
          <p:nvPr/>
        </p:nvSpPr>
        <p:spPr>
          <a:xfrm>
            <a:off x="15732107" y="26987073"/>
            <a:ext cx="12263188" cy="646331"/>
          </a:xfrm>
          <a:prstGeom prst="rect">
            <a:avLst/>
          </a:prstGeom>
          <a:noFill/>
        </p:spPr>
        <p:txBody>
          <a:bodyPr wrap="square" rtlCol="0">
            <a:spAutoFit/>
          </a:bodyPr>
          <a:lstStyle/>
          <a:p>
            <a:r>
              <a:rPr lang="en-US" sz="3600" b="1" dirty="0"/>
              <a:t>Table 1. Winning posters (size 36)</a:t>
            </a:r>
          </a:p>
        </p:txBody>
      </p:sp>
      <p:sp>
        <p:nvSpPr>
          <p:cNvPr id="28" name="TextBox 27"/>
          <p:cNvSpPr txBox="1"/>
          <p:nvPr/>
        </p:nvSpPr>
        <p:spPr>
          <a:xfrm>
            <a:off x="15624437" y="23877764"/>
            <a:ext cx="12962886" cy="3293209"/>
          </a:xfrm>
          <a:prstGeom prst="rect">
            <a:avLst/>
          </a:prstGeom>
          <a:noFill/>
        </p:spPr>
        <p:txBody>
          <a:bodyPr wrap="square" rtlCol="0">
            <a:spAutoFit/>
          </a:bodyPr>
          <a:lstStyle/>
          <a:p>
            <a:pPr marL="571500" indent="-571500">
              <a:buFont typeface="Arial" panose="020B0604020202020204" pitchFamily="34" charset="0"/>
              <a:buChar char="•"/>
            </a:pPr>
            <a:r>
              <a:rPr lang="en-US" sz="4200" dirty="0"/>
              <a:t>Tables:</a:t>
            </a:r>
          </a:p>
          <a:p>
            <a:pPr marL="571500" indent="-571500">
              <a:buFont typeface="Arial" panose="020B0604020202020204" pitchFamily="34" charset="0"/>
              <a:buChar char="•"/>
            </a:pPr>
            <a:r>
              <a:rPr lang="en-US" sz="4200" dirty="0"/>
              <a:t>First row as a heading should be around 48 </a:t>
            </a:r>
            <a:r>
              <a:rPr lang="en-US" sz="4200" dirty="0" err="1"/>
              <a:t>pt</a:t>
            </a:r>
            <a:r>
              <a:rPr lang="en-US" sz="4200" dirty="0"/>
              <a:t> font</a:t>
            </a:r>
          </a:p>
          <a:p>
            <a:pPr marL="571500" indent="-571500">
              <a:buFont typeface="Arial" panose="020B0604020202020204" pitchFamily="34" charset="0"/>
              <a:buChar char="•"/>
            </a:pPr>
            <a:r>
              <a:rPr lang="en-US" sz="4200" dirty="0"/>
              <a:t>The rest of the rows can be 40-44 </a:t>
            </a:r>
            <a:r>
              <a:rPr lang="en-US" sz="4200" dirty="0" err="1"/>
              <a:t>pt</a:t>
            </a:r>
            <a:r>
              <a:rPr lang="en-US" sz="4200" dirty="0"/>
              <a:t> font</a:t>
            </a:r>
          </a:p>
          <a:p>
            <a:pPr marL="571500" indent="-571500">
              <a:buFont typeface="Arial" panose="020B0604020202020204" pitchFamily="34" charset="0"/>
              <a:buChar char="•"/>
            </a:pPr>
            <a:r>
              <a:rPr lang="en-US" sz="4200" dirty="0"/>
              <a:t>Caption should be around 36 </a:t>
            </a:r>
            <a:r>
              <a:rPr lang="en-US" sz="4200" dirty="0" err="1"/>
              <a:t>pt</a:t>
            </a:r>
            <a:r>
              <a:rPr lang="en-US" sz="4200" dirty="0"/>
              <a:t> font</a:t>
            </a:r>
          </a:p>
          <a:p>
            <a:pPr marL="571500" indent="-571500">
              <a:buFont typeface="Arial" panose="020B0604020202020204" pitchFamily="34" charset="0"/>
              <a:buChar char="•"/>
            </a:pPr>
            <a:endParaRPr lang="en-US" sz="4000" dirty="0"/>
          </a:p>
        </p:txBody>
      </p:sp>
      <p:sp>
        <p:nvSpPr>
          <p:cNvPr id="30" name="TextBox 29"/>
          <p:cNvSpPr txBox="1"/>
          <p:nvPr/>
        </p:nvSpPr>
        <p:spPr>
          <a:xfrm>
            <a:off x="23538087" y="16749341"/>
            <a:ext cx="4542713" cy="5232202"/>
          </a:xfrm>
          <a:prstGeom prst="rect">
            <a:avLst/>
          </a:prstGeom>
          <a:noFill/>
        </p:spPr>
        <p:txBody>
          <a:bodyPr wrap="square" rtlCol="0">
            <a:spAutoFit/>
          </a:bodyPr>
          <a:lstStyle/>
          <a:p>
            <a:pPr marL="571500" indent="-571500">
              <a:buFont typeface="Arial" panose="020B0604020202020204" pitchFamily="34" charset="0"/>
              <a:buChar char="•"/>
            </a:pPr>
            <a:r>
              <a:rPr lang="en-US" sz="4200" dirty="0"/>
              <a:t>APPROX sizing:</a:t>
            </a:r>
          </a:p>
          <a:p>
            <a:pPr marL="571500" indent="-571500">
              <a:buFont typeface="Arial" panose="020B0604020202020204" pitchFamily="34" charset="0"/>
              <a:buChar char="•"/>
            </a:pPr>
            <a:r>
              <a:rPr lang="en-US" sz="4200" dirty="0"/>
              <a:t>Title = 48 </a:t>
            </a:r>
            <a:r>
              <a:rPr lang="en-US" sz="4200" dirty="0" err="1"/>
              <a:t>pt</a:t>
            </a:r>
            <a:endParaRPr lang="en-US" sz="4200" dirty="0"/>
          </a:p>
          <a:p>
            <a:pPr marL="571500" indent="-571500">
              <a:buFont typeface="Arial" panose="020B0604020202020204" pitchFamily="34" charset="0"/>
              <a:buChar char="•"/>
            </a:pPr>
            <a:r>
              <a:rPr lang="en-US" sz="4200" dirty="0"/>
              <a:t>Axes = 40 </a:t>
            </a:r>
            <a:r>
              <a:rPr lang="en-US" sz="4200" dirty="0" err="1"/>
              <a:t>pt</a:t>
            </a:r>
            <a:endParaRPr lang="en-US" sz="4200" dirty="0"/>
          </a:p>
          <a:p>
            <a:pPr marL="571500" indent="-571500">
              <a:buFont typeface="Arial" panose="020B0604020202020204" pitchFamily="34" charset="0"/>
              <a:buChar char="•"/>
            </a:pPr>
            <a:r>
              <a:rPr lang="en-US" sz="4200" dirty="0"/>
              <a:t>Axis Titles = 40 </a:t>
            </a:r>
            <a:r>
              <a:rPr lang="en-US" sz="4200" dirty="0" err="1"/>
              <a:t>pt</a:t>
            </a:r>
            <a:endParaRPr lang="en-US" sz="4200" dirty="0"/>
          </a:p>
          <a:p>
            <a:pPr marL="571500" indent="-571500">
              <a:buFont typeface="Arial" panose="020B0604020202020204" pitchFamily="34" charset="0"/>
              <a:buChar char="•"/>
            </a:pPr>
            <a:r>
              <a:rPr lang="en-US" sz="4200" dirty="0"/>
              <a:t>Caption = 36 </a:t>
            </a:r>
            <a:r>
              <a:rPr lang="en-US" sz="4200" dirty="0" err="1"/>
              <a:t>pt</a:t>
            </a:r>
            <a:endParaRPr lang="en-US" sz="4200" dirty="0"/>
          </a:p>
          <a:p>
            <a:pPr marL="571500" indent="-571500">
              <a:buFont typeface="Arial" panose="020B0604020202020204" pitchFamily="34" charset="0"/>
              <a:buChar char="•"/>
            </a:pPr>
            <a:r>
              <a:rPr lang="en-US" sz="4200" dirty="0"/>
              <a:t>Include legend if necessary</a:t>
            </a:r>
          </a:p>
          <a:p>
            <a:pPr marL="571500" indent="-571500">
              <a:buFont typeface="Arial" panose="020B0604020202020204" pitchFamily="34" charset="0"/>
              <a:buChar char="•"/>
            </a:pPr>
            <a:endParaRPr lang="en-US" sz="4000" dirty="0"/>
          </a:p>
        </p:txBody>
      </p:sp>
      <p:cxnSp>
        <p:nvCxnSpPr>
          <p:cNvPr id="8" name="Straight Connector 7"/>
          <p:cNvCxnSpPr/>
          <p:nvPr/>
        </p:nvCxnSpPr>
        <p:spPr>
          <a:xfrm>
            <a:off x="15732107" y="15256496"/>
            <a:ext cx="122839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5811625" y="23421530"/>
            <a:ext cx="12283993"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9778587" y="25378355"/>
            <a:ext cx="12856115" cy="76644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32280344" y="25264917"/>
            <a:ext cx="7844589" cy="923330"/>
          </a:xfrm>
          <a:prstGeom prst="rect">
            <a:avLst/>
          </a:prstGeom>
          <a:noFill/>
        </p:spPr>
        <p:txBody>
          <a:bodyPr wrap="square" rtlCol="0">
            <a:spAutoFit/>
          </a:bodyPr>
          <a:lstStyle/>
          <a:p>
            <a:pPr algn="ctr"/>
            <a:r>
              <a:rPr lang="en-US" sz="5400" b="1" dirty="0">
                <a:solidFill>
                  <a:srgbClr val="F8F8F8"/>
                </a:solidFill>
              </a:rPr>
              <a:t>Heading (approx. 54)</a:t>
            </a:r>
          </a:p>
        </p:txBody>
      </p:sp>
      <p:sp>
        <p:nvSpPr>
          <p:cNvPr id="42" name="TextBox 41"/>
          <p:cNvSpPr txBox="1"/>
          <p:nvPr/>
        </p:nvSpPr>
        <p:spPr>
          <a:xfrm>
            <a:off x="29773322" y="26257073"/>
            <a:ext cx="12861380" cy="5909310"/>
          </a:xfrm>
          <a:prstGeom prst="rect">
            <a:avLst/>
          </a:prstGeom>
          <a:noFill/>
        </p:spPr>
        <p:txBody>
          <a:bodyPr wrap="square" rtlCol="0">
            <a:spAutoFit/>
          </a:bodyPr>
          <a:lstStyle/>
          <a:p>
            <a:pPr marL="571500" indent="-571500">
              <a:buFont typeface="Arial" panose="020B0604020202020204" pitchFamily="34" charset="0"/>
              <a:buChar char="•"/>
            </a:pPr>
            <a:r>
              <a:rPr lang="en-US" sz="4200" dirty="0"/>
              <a:t>List references at the end (confer with your advisor for the proper formatting based on your academic area)</a:t>
            </a:r>
          </a:p>
          <a:p>
            <a:pPr marL="571500" indent="-571500">
              <a:buFont typeface="Arial" panose="020B0604020202020204" pitchFamily="34" charset="0"/>
              <a:buChar char="•"/>
            </a:pPr>
            <a:r>
              <a:rPr lang="en-US" sz="4200" dirty="0"/>
              <a:t>Also consider listing any acknowledgments (e.g., if someone who is not an author helped with something)</a:t>
            </a:r>
          </a:p>
          <a:p>
            <a:pPr marL="571500" indent="-571500">
              <a:buFont typeface="Arial" panose="020B0604020202020204" pitchFamily="34" charset="0"/>
              <a:buChar char="•"/>
            </a:pPr>
            <a:r>
              <a:rPr lang="en-US" sz="4200" dirty="0"/>
              <a:t>Also consider listing your contact info so people can reach you if they have further questions</a:t>
            </a:r>
          </a:p>
          <a:p>
            <a:pPr marL="571500" indent="-571500">
              <a:buFont typeface="Arial" panose="020B0604020202020204" pitchFamily="34" charset="0"/>
              <a:buChar char="•"/>
            </a:pPr>
            <a:r>
              <a:rPr lang="en-US" sz="4200" dirty="0"/>
              <a:t>If you are going to be presenting at a large conference, consider printing out poster handouts to give to interested people who come by your poster</a:t>
            </a:r>
            <a:endParaRPr lang="en-US" sz="4000" dirty="0"/>
          </a:p>
        </p:txBody>
      </p:sp>
      <p:sp>
        <p:nvSpPr>
          <p:cNvPr id="43" name="Rectangle 42"/>
          <p:cNvSpPr/>
          <p:nvPr/>
        </p:nvSpPr>
        <p:spPr>
          <a:xfrm>
            <a:off x="29778587" y="5722432"/>
            <a:ext cx="12856115" cy="766443"/>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32280344" y="5626180"/>
            <a:ext cx="7844589" cy="923330"/>
          </a:xfrm>
          <a:prstGeom prst="rect">
            <a:avLst/>
          </a:prstGeom>
          <a:noFill/>
        </p:spPr>
        <p:txBody>
          <a:bodyPr wrap="square" rtlCol="0">
            <a:spAutoFit/>
          </a:bodyPr>
          <a:lstStyle/>
          <a:p>
            <a:pPr algn="ctr"/>
            <a:r>
              <a:rPr lang="en-US" sz="5400" b="1" dirty="0">
                <a:solidFill>
                  <a:srgbClr val="F8F8F8"/>
                </a:solidFill>
              </a:rPr>
              <a:t>Heading (approx. 54)</a:t>
            </a:r>
          </a:p>
        </p:txBody>
      </p:sp>
      <p:sp>
        <p:nvSpPr>
          <p:cNvPr id="45" name="TextBox 44"/>
          <p:cNvSpPr txBox="1"/>
          <p:nvPr/>
        </p:nvSpPr>
        <p:spPr>
          <a:xfrm>
            <a:off x="29877107" y="6712567"/>
            <a:ext cx="12861380" cy="18558927"/>
          </a:xfrm>
          <a:prstGeom prst="rect">
            <a:avLst/>
          </a:prstGeom>
          <a:noFill/>
        </p:spPr>
        <p:txBody>
          <a:bodyPr wrap="square" rtlCol="0">
            <a:spAutoFit/>
          </a:bodyPr>
          <a:lstStyle/>
          <a:p>
            <a:r>
              <a:rPr lang="en-US" sz="4800" b="1" dirty="0">
                <a:solidFill>
                  <a:srgbClr val="7030A0"/>
                </a:solidFill>
              </a:rPr>
              <a:t>Pasting Images on Your Poster</a:t>
            </a:r>
          </a:p>
          <a:p>
            <a:pPr marL="571500" indent="-571500">
              <a:buFont typeface="Arial" panose="020B0604020202020204" pitchFamily="34" charset="0"/>
              <a:buChar char="•"/>
            </a:pPr>
            <a:r>
              <a:rPr lang="en-US" sz="4200" dirty="0"/>
              <a:t>If you are pasting images from somewhere else on to your poster, make sure you paste the images as an enhanced metafile (PC) or as a PDF (mac). This will ensure that the images do not show up blurry on the large printed poster</a:t>
            </a:r>
          </a:p>
          <a:p>
            <a:pPr marL="571500" indent="-571500">
              <a:buFont typeface="Arial" panose="020B0604020202020204" pitchFamily="34" charset="0"/>
              <a:buChar char="•"/>
            </a:pPr>
            <a:r>
              <a:rPr lang="en-US" sz="4200" dirty="0"/>
              <a:t>Copy -&gt; Paste Special -&gt; Enhanced Metafile/PDF</a:t>
            </a:r>
          </a:p>
          <a:p>
            <a:pPr marL="571500" indent="-571500">
              <a:buFont typeface="Arial" panose="020B0604020202020204" pitchFamily="34" charset="0"/>
              <a:buChar char="•"/>
            </a:pPr>
            <a:endParaRPr lang="en-US" sz="4200" dirty="0"/>
          </a:p>
          <a:p>
            <a:r>
              <a:rPr lang="en-US" sz="4800" b="1" dirty="0">
                <a:solidFill>
                  <a:srgbClr val="7030A0"/>
                </a:solidFill>
              </a:rPr>
              <a:t>Labeling Pictures</a:t>
            </a:r>
          </a:p>
          <a:p>
            <a:pPr marL="571500" indent="-571500">
              <a:buFont typeface="Arial" panose="020B0604020202020204" pitchFamily="34" charset="0"/>
              <a:buChar char="•"/>
            </a:pPr>
            <a:r>
              <a:rPr lang="en-US" sz="4200" dirty="0"/>
              <a:t>You do not need to label every picture you have as a figure, but you do need to make sure your audience knows what they are looking at and how it relates to your project. If the image is someone else’s image, make sure you give proper credit.</a:t>
            </a:r>
          </a:p>
          <a:p>
            <a:pPr marL="571500" indent="-571500">
              <a:buFont typeface="Arial" panose="020B0604020202020204" pitchFamily="34" charset="0"/>
              <a:buChar char="•"/>
            </a:pPr>
            <a:endParaRPr lang="en-US" sz="4200" dirty="0"/>
          </a:p>
          <a:p>
            <a:r>
              <a:rPr lang="en-US" sz="4800" b="1" dirty="0">
                <a:solidFill>
                  <a:srgbClr val="7030A0"/>
                </a:solidFill>
              </a:rPr>
              <a:t>Guidelines</a:t>
            </a:r>
          </a:p>
          <a:p>
            <a:pPr marL="685800" indent="-685800">
              <a:buFont typeface="Arial" panose="020B0604020202020204" pitchFamily="34" charset="0"/>
              <a:buChar char="•"/>
            </a:pPr>
            <a:r>
              <a:rPr lang="en-US" sz="4200" dirty="0"/>
              <a:t>Use this poster as a </a:t>
            </a:r>
            <a:r>
              <a:rPr lang="en-US" sz="4200" b="1" dirty="0"/>
              <a:t>GUIDELINE</a:t>
            </a:r>
            <a:r>
              <a:rPr lang="en-US" sz="4200" dirty="0"/>
              <a:t> – not as an absolute rule! Your font sizes may be slightly bigger or smaller, and your poster layout may be completely different.</a:t>
            </a:r>
            <a:endParaRPr lang="en-US" sz="4200" b="1" dirty="0">
              <a:solidFill>
                <a:srgbClr val="7030A0"/>
              </a:solidFill>
            </a:endParaRPr>
          </a:p>
          <a:p>
            <a:pPr marL="571500" indent="-571500">
              <a:buFont typeface="Arial" panose="020B0604020202020204" pitchFamily="34" charset="0"/>
              <a:buChar char="•"/>
            </a:pPr>
            <a:r>
              <a:rPr lang="en-US" sz="4200" dirty="0"/>
              <a:t>These are just suggestions so your poster can be read by everyone, but everyone’s poster should look a little different!</a:t>
            </a:r>
          </a:p>
          <a:p>
            <a:pPr marL="571500" indent="-571500">
              <a:buFont typeface="Arial" panose="020B0604020202020204" pitchFamily="34" charset="0"/>
              <a:buChar char="•"/>
            </a:pPr>
            <a:r>
              <a:rPr lang="en-US" sz="4200" dirty="0"/>
              <a:t>Consider looking online for more template ideas!</a:t>
            </a:r>
          </a:p>
          <a:p>
            <a:pPr marL="571500" indent="-571500">
              <a:buFont typeface="Arial" panose="020B0604020202020204" pitchFamily="34" charset="0"/>
              <a:buChar char="•"/>
            </a:pPr>
            <a:endParaRPr lang="en-US" sz="4200" dirty="0"/>
          </a:p>
          <a:p>
            <a:r>
              <a:rPr lang="en-US" sz="4800" b="1" dirty="0">
                <a:solidFill>
                  <a:srgbClr val="7030A0"/>
                </a:solidFill>
              </a:rPr>
              <a:t>New Format</a:t>
            </a:r>
          </a:p>
          <a:p>
            <a:pPr marL="685800" indent="-685800">
              <a:buFont typeface="Arial" panose="020B0604020202020204" pitchFamily="34" charset="0"/>
              <a:buChar char="•"/>
            </a:pPr>
            <a:r>
              <a:rPr lang="en-US" sz="4200" dirty="0"/>
              <a:t>Some researchers are switching to a “new and improved” poster format</a:t>
            </a:r>
          </a:p>
          <a:p>
            <a:pPr marL="685800" indent="-685800">
              <a:buFont typeface="Arial" panose="020B0604020202020204" pitchFamily="34" charset="0"/>
              <a:buChar char="•"/>
            </a:pPr>
            <a:r>
              <a:rPr lang="en-US" sz="4200" b="1" dirty="0">
                <a:solidFill>
                  <a:srgbClr val="7030A0"/>
                </a:solidFill>
                <a:hlinkClick r:id="rId8"/>
              </a:rPr>
              <a:t>Check it out!</a:t>
            </a:r>
            <a:endParaRPr lang="en-US" sz="4200" b="1" dirty="0">
              <a:solidFill>
                <a:srgbClr val="7030A0"/>
              </a:solidFill>
            </a:endParaRPr>
          </a:p>
        </p:txBody>
      </p:sp>
      <p:pic>
        <p:nvPicPr>
          <p:cNvPr id="4" name="Picture 3" descr="A screenshot of a video game&#10;&#10;Description automatically generated with medium confidence">
            <a:extLst>
              <a:ext uri="{FF2B5EF4-FFF2-40B4-BE49-F238E27FC236}">
                <a16:creationId xmlns:a16="http://schemas.microsoft.com/office/drawing/2014/main" id="{E373A6A2-9624-FF92-6F64-2C09FBF8A4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659865" y="1089704"/>
            <a:ext cx="5022915" cy="3139322"/>
          </a:xfrm>
          <a:prstGeom prst="rect">
            <a:avLst/>
          </a:prstGeom>
        </p:spPr>
      </p:pic>
      <p:pic>
        <p:nvPicPr>
          <p:cNvPr id="14" name="Picture 13" descr="Shape&#10;&#10;Description automatically generated with low confidence">
            <a:extLst>
              <a:ext uri="{FF2B5EF4-FFF2-40B4-BE49-F238E27FC236}">
                <a16:creationId xmlns:a16="http://schemas.microsoft.com/office/drawing/2014/main" id="{FC1B9225-F379-FE11-70AF-7352599F658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75395" y="1250400"/>
            <a:ext cx="7765405" cy="2894118"/>
          </a:xfrm>
          <a:prstGeom prst="rect">
            <a:avLst/>
          </a:prstGeom>
        </p:spPr>
      </p:pic>
      <p:sp>
        <p:nvSpPr>
          <p:cNvPr id="3" name="TextBox 2">
            <a:extLst>
              <a:ext uri="{FF2B5EF4-FFF2-40B4-BE49-F238E27FC236}">
                <a16:creationId xmlns:a16="http://schemas.microsoft.com/office/drawing/2014/main" id="{348B9D9E-64F4-05F0-0C07-12D0A8B09955}"/>
              </a:ext>
            </a:extLst>
          </p:cNvPr>
          <p:cNvSpPr txBox="1"/>
          <p:nvPr/>
        </p:nvSpPr>
        <p:spPr>
          <a:xfrm>
            <a:off x="8940800" y="2353178"/>
            <a:ext cx="12627429" cy="1938992"/>
          </a:xfrm>
          <a:prstGeom prst="rect">
            <a:avLst/>
          </a:prstGeom>
          <a:noFill/>
        </p:spPr>
        <p:txBody>
          <a:bodyPr wrap="square" rtlCol="0">
            <a:spAutoFit/>
          </a:bodyPr>
          <a:lstStyle/>
          <a:p>
            <a:pPr algn="ctr"/>
            <a:r>
              <a:rPr lang="en-US" sz="6600" dirty="0"/>
              <a:t>Student Author Name (66 pt)</a:t>
            </a:r>
          </a:p>
          <a:p>
            <a:pPr algn="ctr"/>
            <a:r>
              <a:rPr lang="en-US" sz="5400" dirty="0"/>
              <a:t>Student Author School/College (54 pt)</a:t>
            </a:r>
          </a:p>
        </p:txBody>
      </p:sp>
      <p:sp>
        <p:nvSpPr>
          <p:cNvPr id="9" name="TextBox 8">
            <a:extLst>
              <a:ext uri="{FF2B5EF4-FFF2-40B4-BE49-F238E27FC236}">
                <a16:creationId xmlns:a16="http://schemas.microsoft.com/office/drawing/2014/main" id="{55C4459B-068A-5775-3B7A-AAE8A7EF3981}"/>
              </a:ext>
            </a:extLst>
          </p:cNvPr>
          <p:cNvSpPr txBox="1"/>
          <p:nvPr/>
        </p:nvSpPr>
        <p:spPr>
          <a:xfrm>
            <a:off x="22917007" y="2285284"/>
            <a:ext cx="12627429" cy="1938992"/>
          </a:xfrm>
          <a:prstGeom prst="rect">
            <a:avLst/>
          </a:prstGeom>
          <a:noFill/>
        </p:spPr>
        <p:txBody>
          <a:bodyPr wrap="square" rtlCol="0">
            <a:spAutoFit/>
          </a:bodyPr>
          <a:lstStyle/>
          <a:p>
            <a:pPr algn="ctr"/>
            <a:r>
              <a:rPr lang="en-US" sz="6600" dirty="0"/>
              <a:t>Showcase Advisor Name (66 pt)</a:t>
            </a:r>
          </a:p>
          <a:p>
            <a:pPr algn="ctr"/>
            <a:r>
              <a:rPr lang="en-US" sz="5400" dirty="0"/>
              <a:t>Showcase Advisor School/College (54 pt)</a:t>
            </a:r>
          </a:p>
        </p:txBody>
      </p:sp>
    </p:spTree>
    <p:extLst>
      <p:ext uri="{BB962C8B-B14F-4D97-AF65-F5344CB8AC3E}">
        <p14:creationId xmlns:p14="http://schemas.microsoft.com/office/powerpoint/2010/main" val="2887143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14F848A-7F8E-D1CD-47B1-A9AB4DA864CF}"/>
              </a:ext>
            </a:extLst>
          </p:cNvPr>
          <p:cNvSpPr/>
          <p:nvPr/>
        </p:nvSpPr>
        <p:spPr>
          <a:xfrm>
            <a:off x="0" y="0"/>
            <a:ext cx="43891200" cy="5009395"/>
          </a:xfrm>
          <a:prstGeom prst="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2422BDCD-6A0F-3729-61FE-234F861F7B86}"/>
              </a:ext>
            </a:extLst>
          </p:cNvPr>
          <p:cNvSpPr/>
          <p:nvPr/>
        </p:nvSpPr>
        <p:spPr>
          <a:xfrm>
            <a:off x="12862560" y="5730239"/>
            <a:ext cx="18166080" cy="889365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E56EC5-CF11-0597-5B99-419E877F09C4}"/>
              </a:ext>
            </a:extLst>
          </p:cNvPr>
          <p:cNvSpPr/>
          <p:nvPr/>
        </p:nvSpPr>
        <p:spPr>
          <a:xfrm>
            <a:off x="1005840" y="5730239"/>
            <a:ext cx="11064240" cy="1223503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68720F1-CE5D-CC3C-2729-D3E7ACD8034A}"/>
              </a:ext>
            </a:extLst>
          </p:cNvPr>
          <p:cNvSpPr/>
          <p:nvPr/>
        </p:nvSpPr>
        <p:spPr>
          <a:xfrm>
            <a:off x="31821120" y="5730239"/>
            <a:ext cx="11064240" cy="1789176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AA0C8C-9809-C7FD-CC95-E1414E0729A0}"/>
              </a:ext>
            </a:extLst>
          </p:cNvPr>
          <p:cNvSpPr/>
          <p:nvPr/>
        </p:nvSpPr>
        <p:spPr>
          <a:xfrm>
            <a:off x="31882080" y="24986160"/>
            <a:ext cx="11064240" cy="713975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9FB7B3-8CAC-05B1-CB9F-B093B019CE3D}"/>
              </a:ext>
            </a:extLst>
          </p:cNvPr>
          <p:cNvSpPr/>
          <p:nvPr/>
        </p:nvSpPr>
        <p:spPr>
          <a:xfrm>
            <a:off x="964276" y="18769242"/>
            <a:ext cx="11064240" cy="1343980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DF9AAFB-CD29-79A4-A6A4-B0325C4730A3}"/>
              </a:ext>
            </a:extLst>
          </p:cNvPr>
          <p:cNvSpPr txBox="1"/>
          <p:nvPr/>
        </p:nvSpPr>
        <p:spPr>
          <a:xfrm>
            <a:off x="404553" y="293717"/>
            <a:ext cx="32691977" cy="2431435"/>
          </a:xfrm>
          <a:prstGeom prst="rect">
            <a:avLst/>
          </a:prstGeom>
          <a:noFill/>
        </p:spPr>
        <p:txBody>
          <a:bodyPr wrap="square" rtlCol="0">
            <a:spAutoFit/>
          </a:bodyPr>
          <a:lstStyle/>
          <a:p>
            <a:pPr algn="ctr" defTabSz="513248" eaLnBrk="0" hangingPunct="0"/>
            <a:r>
              <a:rPr lang="en-US" sz="7200" b="1" dirty="0">
                <a:solidFill>
                  <a:schemeClr val="bg2"/>
                </a:solidFill>
              </a:rPr>
              <a:t>Comparative Analysis of </a:t>
            </a:r>
            <a:r>
              <a:rPr lang="en-US" sz="8000" b="1" dirty="0">
                <a:solidFill>
                  <a:schemeClr val="bg2"/>
                </a:solidFill>
              </a:rPr>
              <a:t>A</a:t>
            </a:r>
            <a:r>
              <a:rPr lang="en-US" sz="6600" b="1" dirty="0">
                <a:solidFill>
                  <a:schemeClr val="bg2"/>
                </a:solidFill>
              </a:rPr>
              <a:t>DA</a:t>
            </a:r>
            <a:r>
              <a:rPr lang="en-US" sz="8000" b="1" dirty="0">
                <a:solidFill>
                  <a:schemeClr val="bg2"/>
                </a:solidFill>
              </a:rPr>
              <a:t>H</a:t>
            </a:r>
            <a:r>
              <a:rPr lang="en-US" sz="6600" b="1" dirty="0">
                <a:solidFill>
                  <a:schemeClr val="bg2"/>
                </a:solidFill>
              </a:rPr>
              <a:t>ESSIAN</a:t>
            </a:r>
            <a:r>
              <a:rPr lang="en-US" sz="7200" b="1" dirty="0">
                <a:solidFill>
                  <a:schemeClr val="bg2"/>
                </a:solidFill>
              </a:rPr>
              <a:t> and First-Order Optimizers for CSI-Based Sign Language Recognition</a:t>
            </a:r>
            <a:endParaRPr lang="en-US" sz="7200" b="1" dirty="0">
              <a:solidFill>
                <a:schemeClr val="bg2"/>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36BFFEE1-857E-A035-1F2E-60F07143414E}"/>
              </a:ext>
            </a:extLst>
          </p:cNvPr>
          <p:cNvSpPr txBox="1"/>
          <p:nvPr/>
        </p:nvSpPr>
        <p:spPr>
          <a:xfrm>
            <a:off x="944880" y="18686115"/>
            <a:ext cx="11064240" cy="923330"/>
          </a:xfrm>
          <a:prstGeom prst="rect">
            <a:avLst/>
          </a:prstGeom>
          <a:solidFill>
            <a:schemeClr val="tx2"/>
          </a:solidFill>
        </p:spPr>
        <p:txBody>
          <a:bodyPr wrap="square" rtlCol="0">
            <a:spAutoFit/>
          </a:bodyPr>
          <a:lstStyle/>
          <a:p>
            <a:pPr algn="ctr"/>
            <a:r>
              <a:rPr lang="en-US" sz="5400" spc="600" dirty="0">
                <a:solidFill>
                  <a:schemeClr val="bg1"/>
                </a:solidFill>
              </a:rPr>
              <a:t>BACKGROUND</a:t>
            </a:r>
          </a:p>
        </p:txBody>
      </p:sp>
      <p:sp>
        <p:nvSpPr>
          <p:cNvPr id="21" name="TextBox 20">
            <a:extLst>
              <a:ext uri="{FF2B5EF4-FFF2-40B4-BE49-F238E27FC236}">
                <a16:creationId xmlns:a16="http://schemas.microsoft.com/office/drawing/2014/main" id="{639CE5DE-C56D-9D5F-F84B-33CAA8EA0564}"/>
              </a:ext>
            </a:extLst>
          </p:cNvPr>
          <p:cNvSpPr txBox="1"/>
          <p:nvPr/>
        </p:nvSpPr>
        <p:spPr>
          <a:xfrm>
            <a:off x="1005840" y="5740915"/>
            <a:ext cx="11064240" cy="923330"/>
          </a:xfrm>
          <a:prstGeom prst="rect">
            <a:avLst/>
          </a:prstGeom>
          <a:solidFill>
            <a:schemeClr val="tx2"/>
          </a:solidFill>
        </p:spPr>
        <p:txBody>
          <a:bodyPr wrap="square" rtlCol="0">
            <a:spAutoFit/>
          </a:bodyPr>
          <a:lstStyle/>
          <a:p>
            <a:pPr algn="ctr"/>
            <a:r>
              <a:rPr lang="en-US" sz="5400" spc="600" dirty="0">
                <a:solidFill>
                  <a:schemeClr val="bg1"/>
                </a:solidFill>
              </a:rPr>
              <a:t>INTRODUCTION</a:t>
            </a:r>
          </a:p>
        </p:txBody>
      </p:sp>
      <p:sp>
        <p:nvSpPr>
          <p:cNvPr id="22" name="TextBox 21">
            <a:extLst>
              <a:ext uri="{FF2B5EF4-FFF2-40B4-BE49-F238E27FC236}">
                <a16:creationId xmlns:a16="http://schemas.microsoft.com/office/drawing/2014/main" id="{5D7BD028-9D87-0A83-E39E-4825916AB066}"/>
              </a:ext>
            </a:extLst>
          </p:cNvPr>
          <p:cNvSpPr txBox="1"/>
          <p:nvPr/>
        </p:nvSpPr>
        <p:spPr>
          <a:xfrm>
            <a:off x="12862560" y="5730239"/>
            <a:ext cx="18166080" cy="923330"/>
          </a:xfrm>
          <a:prstGeom prst="rect">
            <a:avLst/>
          </a:prstGeom>
          <a:solidFill>
            <a:schemeClr val="tx2"/>
          </a:solidFill>
        </p:spPr>
        <p:txBody>
          <a:bodyPr wrap="square" rtlCol="0">
            <a:spAutoFit/>
          </a:bodyPr>
          <a:lstStyle/>
          <a:p>
            <a:pPr algn="ctr"/>
            <a:r>
              <a:rPr lang="en-US" sz="5400" spc="600" dirty="0">
                <a:solidFill>
                  <a:schemeClr val="bg1"/>
                </a:solidFill>
              </a:rPr>
              <a:t>MAIN POINTS / GRAPHICS</a:t>
            </a:r>
          </a:p>
        </p:txBody>
      </p:sp>
      <p:sp>
        <p:nvSpPr>
          <p:cNvPr id="23" name="TextBox 22">
            <a:extLst>
              <a:ext uri="{FF2B5EF4-FFF2-40B4-BE49-F238E27FC236}">
                <a16:creationId xmlns:a16="http://schemas.microsoft.com/office/drawing/2014/main" id="{AD1651AB-4CCA-59F9-84B0-5ACD7ED6A040}"/>
              </a:ext>
            </a:extLst>
          </p:cNvPr>
          <p:cNvSpPr txBox="1"/>
          <p:nvPr/>
        </p:nvSpPr>
        <p:spPr>
          <a:xfrm>
            <a:off x="31821120" y="5730239"/>
            <a:ext cx="11064240" cy="923330"/>
          </a:xfrm>
          <a:prstGeom prst="rect">
            <a:avLst/>
          </a:prstGeom>
          <a:solidFill>
            <a:schemeClr val="tx2"/>
          </a:solidFill>
        </p:spPr>
        <p:txBody>
          <a:bodyPr wrap="square" rtlCol="0">
            <a:spAutoFit/>
          </a:bodyPr>
          <a:lstStyle/>
          <a:p>
            <a:pPr algn="ctr"/>
            <a:r>
              <a:rPr lang="en-US" sz="5400" spc="600" dirty="0">
                <a:solidFill>
                  <a:schemeClr val="bg1"/>
                </a:solidFill>
              </a:rPr>
              <a:t>CONCLUSION / NEXT STEPS</a:t>
            </a:r>
          </a:p>
        </p:txBody>
      </p:sp>
      <p:sp>
        <p:nvSpPr>
          <p:cNvPr id="24" name="TextBox 23">
            <a:extLst>
              <a:ext uri="{FF2B5EF4-FFF2-40B4-BE49-F238E27FC236}">
                <a16:creationId xmlns:a16="http://schemas.microsoft.com/office/drawing/2014/main" id="{B7C8C861-3155-F0D3-027B-B8040F17CA10}"/>
              </a:ext>
            </a:extLst>
          </p:cNvPr>
          <p:cNvSpPr txBox="1"/>
          <p:nvPr/>
        </p:nvSpPr>
        <p:spPr>
          <a:xfrm>
            <a:off x="31821120" y="24306670"/>
            <a:ext cx="11064240" cy="923330"/>
          </a:xfrm>
          <a:prstGeom prst="rect">
            <a:avLst/>
          </a:prstGeom>
          <a:solidFill>
            <a:schemeClr val="tx2"/>
          </a:solidFill>
        </p:spPr>
        <p:txBody>
          <a:bodyPr wrap="square" rtlCol="0">
            <a:spAutoFit/>
          </a:bodyPr>
          <a:lstStyle/>
          <a:p>
            <a:pPr algn="ctr"/>
            <a:r>
              <a:rPr lang="en-US" sz="5400" spc="600" dirty="0">
                <a:solidFill>
                  <a:schemeClr val="bg1"/>
                </a:solidFill>
              </a:rPr>
              <a:t>REFERENCES</a:t>
            </a:r>
          </a:p>
        </p:txBody>
      </p:sp>
      <p:sp>
        <p:nvSpPr>
          <p:cNvPr id="9" name="TextBox 8">
            <a:extLst>
              <a:ext uri="{FF2B5EF4-FFF2-40B4-BE49-F238E27FC236}">
                <a16:creationId xmlns:a16="http://schemas.microsoft.com/office/drawing/2014/main" id="{598DD4B5-29EE-B021-DC4D-71C5E3DD09FB}"/>
              </a:ext>
            </a:extLst>
          </p:cNvPr>
          <p:cNvSpPr txBox="1"/>
          <p:nvPr/>
        </p:nvSpPr>
        <p:spPr>
          <a:xfrm>
            <a:off x="1457513" y="7094399"/>
            <a:ext cx="10003167" cy="10372070"/>
          </a:xfrm>
          <a:prstGeom prst="rect">
            <a:avLst/>
          </a:prstGeom>
          <a:noFill/>
        </p:spPr>
        <p:txBody>
          <a:bodyPr wrap="square" rtlCol="0">
            <a:spAutoFit/>
          </a:bodyPr>
          <a:lstStyle/>
          <a:p>
            <a:pPr marL="571500" indent="-571500">
              <a:buFont typeface="Arial" panose="020B0604020202020204" pitchFamily="34" charset="0"/>
              <a:buChar char="•"/>
            </a:pPr>
            <a:r>
              <a:rPr lang="en-US" sz="4200" dirty="0"/>
              <a:t>Your heading should always be larger than your body  text font size, but not nearly as large as your title above</a:t>
            </a:r>
          </a:p>
          <a:p>
            <a:pPr marL="571500" indent="-571500">
              <a:buFont typeface="Arial" panose="020B0604020202020204" pitchFamily="34" charset="0"/>
              <a:buChar char="•"/>
            </a:pPr>
            <a:r>
              <a:rPr lang="en-US" sz="4200" dirty="0"/>
              <a:t>Your body text should be approximately 40-44 sized font, and definitely no smaller than 36-38</a:t>
            </a:r>
          </a:p>
          <a:p>
            <a:pPr marL="571500" indent="-571500">
              <a:buFont typeface="Arial" panose="020B0604020202020204" pitchFamily="34" charset="0"/>
              <a:buChar char="•"/>
            </a:pPr>
            <a:r>
              <a:rPr lang="en-US" sz="4200" dirty="0"/>
              <a:t>You can also use subheadings in this section to organize your text better</a:t>
            </a:r>
          </a:p>
          <a:p>
            <a:pPr marL="571500" indent="-571500">
              <a:buFont typeface="Arial" panose="020B0604020202020204" pitchFamily="34" charset="0"/>
              <a:buChar char="•"/>
            </a:pPr>
            <a:r>
              <a:rPr lang="en-US" sz="4200" dirty="0"/>
              <a:t>You should think of ways to break down your info into meaningful CONCISE chunks.</a:t>
            </a:r>
          </a:p>
          <a:p>
            <a:pPr marL="571500" indent="-571500">
              <a:buFont typeface="Arial" panose="020B0604020202020204" pitchFamily="34" charset="0"/>
              <a:buChar char="•"/>
            </a:pPr>
            <a:endParaRPr lang="en-US" sz="3200" dirty="0">
              <a:solidFill>
                <a:srgbClr val="7030A0"/>
              </a:solidFill>
            </a:endParaRPr>
          </a:p>
          <a:p>
            <a:r>
              <a:rPr lang="en-US" sz="4800" b="1" dirty="0">
                <a:solidFill>
                  <a:srgbClr val="002060"/>
                </a:solidFill>
              </a:rPr>
              <a:t>Subheading (approx. 44-48)</a:t>
            </a:r>
          </a:p>
          <a:p>
            <a:pPr marL="571500" indent="-571500">
              <a:buFont typeface="Arial" panose="020B0604020202020204" pitchFamily="34" charset="0"/>
              <a:buChar char="•"/>
            </a:pPr>
            <a:r>
              <a:rPr lang="en-US" sz="4200" dirty="0"/>
              <a:t>Use bullet points when possible: the fewer words the better</a:t>
            </a:r>
          </a:p>
          <a:p>
            <a:pPr marL="571500" indent="-571500">
              <a:buFont typeface="Arial" panose="020B0604020202020204" pitchFamily="34" charset="0"/>
              <a:buChar char="•"/>
            </a:pPr>
            <a:r>
              <a:rPr lang="en-US" sz="4200" dirty="0"/>
              <a:t>Use ONE font throughout the poster</a:t>
            </a:r>
          </a:p>
        </p:txBody>
      </p:sp>
      <p:sp>
        <p:nvSpPr>
          <p:cNvPr id="2" name="TextBox 1">
            <a:extLst>
              <a:ext uri="{FF2B5EF4-FFF2-40B4-BE49-F238E27FC236}">
                <a16:creationId xmlns:a16="http://schemas.microsoft.com/office/drawing/2014/main" id="{A35411AC-476F-6782-A080-49F9388AA30B}"/>
              </a:ext>
            </a:extLst>
          </p:cNvPr>
          <p:cNvSpPr txBox="1"/>
          <p:nvPr/>
        </p:nvSpPr>
        <p:spPr>
          <a:xfrm>
            <a:off x="13572938" y="7051685"/>
            <a:ext cx="16745323" cy="6924973"/>
          </a:xfrm>
          <a:prstGeom prst="rect">
            <a:avLst/>
          </a:prstGeom>
          <a:noFill/>
        </p:spPr>
        <p:txBody>
          <a:bodyPr wrap="square" rtlCol="0">
            <a:spAutoFit/>
          </a:bodyPr>
          <a:lstStyle/>
          <a:p>
            <a:pPr marL="571500" indent="-571500">
              <a:buFont typeface="Arial" panose="020B0604020202020204" pitchFamily="34" charset="0"/>
              <a:buChar char="•"/>
            </a:pPr>
            <a:r>
              <a:rPr lang="en-US" sz="4200" dirty="0"/>
              <a:t>Many posters use the three column approach like you see here, but that is not the only way to structure your poster</a:t>
            </a:r>
          </a:p>
          <a:p>
            <a:pPr marL="571500" indent="-571500">
              <a:buFont typeface="Arial" panose="020B0604020202020204" pitchFamily="34" charset="0"/>
              <a:buChar char="•"/>
            </a:pPr>
            <a:r>
              <a:rPr lang="en-US" sz="4200" dirty="0"/>
              <a:t>Be creative! Don’t just copy another template exactly</a:t>
            </a:r>
          </a:p>
          <a:p>
            <a:pPr marL="571500" indent="-571500">
              <a:buFont typeface="Arial" panose="020B0604020202020204" pitchFamily="34" charset="0"/>
              <a:buChar char="•"/>
            </a:pPr>
            <a:r>
              <a:rPr lang="en-US" sz="4200" dirty="0"/>
              <a:t>Things to remember when being creative:</a:t>
            </a:r>
            <a:br>
              <a:rPr lang="en-US" sz="4200" dirty="0"/>
            </a:br>
            <a:r>
              <a:rPr lang="en-US" sz="2400" dirty="0"/>
              <a:t> </a:t>
            </a:r>
            <a:r>
              <a:rPr lang="en-US" sz="1600" dirty="0"/>
              <a:t> </a:t>
            </a:r>
            <a:r>
              <a:rPr lang="en-US" sz="1400" dirty="0"/>
              <a:t> </a:t>
            </a:r>
            <a:endParaRPr lang="en-US" sz="2400" dirty="0"/>
          </a:p>
          <a:p>
            <a:pPr marL="742950" indent="-742950">
              <a:buFont typeface="+mj-lt"/>
              <a:buAutoNum type="arabicPeriod"/>
            </a:pPr>
            <a:r>
              <a:rPr lang="en-US" sz="4200" b="1" dirty="0">
                <a:solidFill>
                  <a:srgbClr val="002060"/>
                </a:solidFill>
              </a:rPr>
              <a:t>Keep things consistent. </a:t>
            </a:r>
            <a:r>
              <a:rPr lang="en-US" sz="4200" dirty="0"/>
              <a:t>If you want to make your headings purple, make all similar headings purple</a:t>
            </a:r>
          </a:p>
          <a:p>
            <a:pPr marL="742950" indent="-742950">
              <a:buFont typeface="+mj-lt"/>
              <a:buAutoNum type="arabicPeriod"/>
            </a:pPr>
            <a:r>
              <a:rPr lang="en-US" sz="4200" b="1" dirty="0">
                <a:solidFill>
                  <a:srgbClr val="002060"/>
                </a:solidFill>
              </a:rPr>
              <a:t>Don’t overdo it on colors. </a:t>
            </a:r>
            <a:r>
              <a:rPr lang="en-US" sz="4200" dirty="0"/>
              <a:t>Color can be really useful for highlighting information and breaking up text, but too much color can be distracting</a:t>
            </a:r>
          </a:p>
          <a:p>
            <a:pPr marL="742950" indent="-742950">
              <a:buFont typeface="+mj-lt"/>
              <a:buAutoNum type="arabicPeriod"/>
            </a:pPr>
            <a:r>
              <a:rPr lang="en-US" sz="4200" b="1" dirty="0">
                <a:solidFill>
                  <a:srgbClr val="002060"/>
                </a:solidFill>
              </a:rPr>
              <a:t>Choose colors and fonts that people can read. </a:t>
            </a:r>
            <a:r>
              <a:rPr lang="en-US" sz="4200" dirty="0"/>
              <a:t>(Don’t put your headings in a light yellow!)</a:t>
            </a:r>
          </a:p>
        </p:txBody>
      </p:sp>
      <p:sp>
        <p:nvSpPr>
          <p:cNvPr id="11" name="TextBox 10">
            <a:extLst>
              <a:ext uri="{FF2B5EF4-FFF2-40B4-BE49-F238E27FC236}">
                <a16:creationId xmlns:a16="http://schemas.microsoft.com/office/drawing/2014/main" id="{36B0C521-B06F-E5F1-57F9-DE60CAA22C13}"/>
              </a:ext>
            </a:extLst>
          </p:cNvPr>
          <p:cNvSpPr txBox="1"/>
          <p:nvPr/>
        </p:nvSpPr>
        <p:spPr>
          <a:xfrm>
            <a:off x="32251249" y="25673774"/>
            <a:ext cx="10203982" cy="5909310"/>
          </a:xfrm>
          <a:prstGeom prst="rect">
            <a:avLst/>
          </a:prstGeom>
          <a:noFill/>
        </p:spPr>
        <p:txBody>
          <a:bodyPr wrap="square" rtlCol="0">
            <a:spAutoFit/>
          </a:bodyPr>
          <a:lstStyle/>
          <a:p>
            <a:pPr marL="571500" indent="-571500">
              <a:buFont typeface="Arial" panose="020B0604020202020204" pitchFamily="34" charset="0"/>
              <a:buChar char="•"/>
            </a:pPr>
            <a:r>
              <a:rPr lang="en-US" sz="4200" dirty="0"/>
              <a:t>List references at the end (confer with your advisor for the proper formatting based on your academic area)</a:t>
            </a:r>
          </a:p>
          <a:p>
            <a:pPr marL="571500" indent="-571500">
              <a:buFont typeface="Arial" panose="020B0604020202020204" pitchFamily="34" charset="0"/>
              <a:buChar char="•"/>
            </a:pPr>
            <a:r>
              <a:rPr lang="en-US" sz="4200" dirty="0"/>
              <a:t>Also consider listing any acknowledgments (e.g., if someone who is not an author helped with something)</a:t>
            </a:r>
          </a:p>
          <a:p>
            <a:pPr marL="571500" indent="-571500">
              <a:buFont typeface="Arial" panose="020B0604020202020204" pitchFamily="34" charset="0"/>
              <a:buChar char="•"/>
            </a:pPr>
            <a:r>
              <a:rPr lang="en-US" sz="4200" dirty="0"/>
              <a:t>Also consider listing your contact info so people can reach you if they have further questions</a:t>
            </a:r>
          </a:p>
        </p:txBody>
      </p:sp>
      <p:sp>
        <p:nvSpPr>
          <p:cNvPr id="15" name="TextBox 14">
            <a:extLst>
              <a:ext uri="{FF2B5EF4-FFF2-40B4-BE49-F238E27FC236}">
                <a16:creationId xmlns:a16="http://schemas.microsoft.com/office/drawing/2014/main" id="{0CA65003-5F21-4E1C-ACCB-B48C297B8D3E}"/>
              </a:ext>
            </a:extLst>
          </p:cNvPr>
          <p:cNvSpPr txBox="1"/>
          <p:nvPr/>
        </p:nvSpPr>
        <p:spPr>
          <a:xfrm>
            <a:off x="32251249" y="6986823"/>
            <a:ext cx="10487238" cy="16527601"/>
          </a:xfrm>
          <a:prstGeom prst="rect">
            <a:avLst/>
          </a:prstGeom>
          <a:noFill/>
        </p:spPr>
        <p:txBody>
          <a:bodyPr wrap="square" rtlCol="0">
            <a:spAutoFit/>
          </a:bodyPr>
          <a:lstStyle/>
          <a:p>
            <a:r>
              <a:rPr lang="en-US" sz="4800" b="1" dirty="0">
                <a:solidFill>
                  <a:srgbClr val="002060"/>
                </a:solidFill>
              </a:rPr>
              <a:t>Pasting Images on Your Poster</a:t>
            </a:r>
          </a:p>
          <a:p>
            <a:pPr marL="571500" indent="-571500">
              <a:buFont typeface="Arial" panose="020B0604020202020204" pitchFamily="34" charset="0"/>
              <a:buChar char="•"/>
            </a:pPr>
            <a:r>
              <a:rPr lang="en-US" sz="4200" dirty="0"/>
              <a:t>If you are pasting images from somewhere else on to your poster, make sure you paste the images as an enhanced metafile (PC) or as a PDF (mac). This will ensure that the images do not show up blurry on the large printed poster</a:t>
            </a:r>
          </a:p>
          <a:p>
            <a:pPr marL="571500" indent="-571500">
              <a:buFont typeface="Arial" panose="020B0604020202020204" pitchFamily="34" charset="0"/>
              <a:buChar char="•"/>
            </a:pPr>
            <a:r>
              <a:rPr lang="en-US" sz="4200" dirty="0"/>
              <a:t>Copy -&gt; Paste Special -&gt; Enhanced Metafile/PDF</a:t>
            </a:r>
          </a:p>
          <a:p>
            <a:pPr marL="571500" indent="-571500">
              <a:buFont typeface="Arial" panose="020B0604020202020204" pitchFamily="34" charset="0"/>
              <a:buChar char="•"/>
            </a:pPr>
            <a:endParaRPr lang="en-US" sz="4200" dirty="0"/>
          </a:p>
          <a:p>
            <a:r>
              <a:rPr lang="en-US" sz="4800" b="1" dirty="0">
                <a:solidFill>
                  <a:srgbClr val="002060"/>
                </a:solidFill>
              </a:rPr>
              <a:t>Labeling Pictures</a:t>
            </a:r>
          </a:p>
          <a:p>
            <a:pPr marL="571500" indent="-571500">
              <a:buFont typeface="Arial" panose="020B0604020202020204" pitchFamily="34" charset="0"/>
              <a:buChar char="•"/>
            </a:pPr>
            <a:r>
              <a:rPr lang="en-US" sz="4200" dirty="0"/>
              <a:t>You do not need to label every picture you have as a figure, but you do need to make sure your audience knows what they are looking at and how it relates to your project. If the image is someone else’s image, make sure you give proper credit.</a:t>
            </a:r>
          </a:p>
          <a:p>
            <a:pPr marL="571500" indent="-571500">
              <a:buFont typeface="Arial" panose="020B0604020202020204" pitchFamily="34" charset="0"/>
              <a:buChar char="•"/>
            </a:pPr>
            <a:endParaRPr lang="en-US" sz="4200" dirty="0"/>
          </a:p>
          <a:p>
            <a:r>
              <a:rPr lang="en-US" sz="4800" b="1" dirty="0">
                <a:solidFill>
                  <a:srgbClr val="002060"/>
                </a:solidFill>
              </a:rPr>
              <a:t>Guidelines</a:t>
            </a:r>
          </a:p>
          <a:p>
            <a:pPr marL="685800" indent="-685800">
              <a:buFont typeface="Arial" panose="020B0604020202020204" pitchFamily="34" charset="0"/>
              <a:buChar char="•"/>
            </a:pPr>
            <a:r>
              <a:rPr lang="en-US" sz="4200" dirty="0"/>
              <a:t>Use this poster as a </a:t>
            </a:r>
            <a:r>
              <a:rPr lang="en-US" sz="4200" b="1" dirty="0"/>
              <a:t>GUIDELINE</a:t>
            </a:r>
            <a:r>
              <a:rPr lang="en-US" sz="4200" dirty="0"/>
              <a:t> – not as an absolute rule! Your font sizes may be slightly bigger or smaller, and your poster layout may be completely different.</a:t>
            </a:r>
            <a:endParaRPr lang="en-US" sz="4200" b="1" dirty="0">
              <a:solidFill>
                <a:srgbClr val="7030A0"/>
              </a:solidFill>
            </a:endParaRPr>
          </a:p>
          <a:p>
            <a:pPr marL="571500" indent="-571500">
              <a:buFont typeface="Arial" panose="020B0604020202020204" pitchFamily="34" charset="0"/>
              <a:buChar char="•"/>
            </a:pPr>
            <a:r>
              <a:rPr lang="en-US" sz="4200" dirty="0"/>
              <a:t>Consider looking online for more template ideas!</a:t>
            </a:r>
          </a:p>
        </p:txBody>
      </p:sp>
      <p:pic>
        <p:nvPicPr>
          <p:cNvPr id="17" name="Picture 16">
            <a:extLst>
              <a:ext uri="{FF2B5EF4-FFF2-40B4-BE49-F238E27FC236}">
                <a16:creationId xmlns:a16="http://schemas.microsoft.com/office/drawing/2014/main" id="{7043F9DA-C7BC-00D4-F2B8-14F0AE52BB21}"/>
              </a:ext>
            </a:extLst>
          </p:cNvPr>
          <p:cNvPicPr>
            <a:picLocks noChangeAspect="1"/>
          </p:cNvPicPr>
          <p:nvPr/>
        </p:nvPicPr>
        <p:blipFill rotWithShape="1">
          <a:blip r:embed="rId3">
            <a:extLst>
              <a:ext uri="{28A0092B-C50C-407E-A947-70E740481C1C}">
                <a14:useLocalDpi xmlns:a14="http://schemas.microsoft.com/office/drawing/2010/main" val="0"/>
              </a:ext>
            </a:extLst>
          </a:blip>
          <a:srcRect t="69564"/>
          <a:stretch/>
        </p:blipFill>
        <p:spPr>
          <a:xfrm>
            <a:off x="13860757" y="25866715"/>
            <a:ext cx="15956805" cy="6177167"/>
          </a:xfrm>
          <a:prstGeom prst="rect">
            <a:avLst/>
          </a:prstGeom>
        </p:spPr>
      </p:pic>
      <p:sp>
        <p:nvSpPr>
          <p:cNvPr id="18" name="TextBox 17">
            <a:extLst>
              <a:ext uri="{FF2B5EF4-FFF2-40B4-BE49-F238E27FC236}">
                <a16:creationId xmlns:a16="http://schemas.microsoft.com/office/drawing/2014/main" id="{5E36DDDF-63D6-C824-0163-2960994B84CE}"/>
              </a:ext>
            </a:extLst>
          </p:cNvPr>
          <p:cNvSpPr txBox="1"/>
          <p:nvPr/>
        </p:nvSpPr>
        <p:spPr>
          <a:xfrm>
            <a:off x="1457513" y="25230000"/>
            <a:ext cx="10182438" cy="6617196"/>
          </a:xfrm>
          <a:prstGeom prst="rect">
            <a:avLst/>
          </a:prstGeom>
          <a:noFill/>
        </p:spPr>
        <p:txBody>
          <a:bodyPr wrap="square" rtlCol="0">
            <a:spAutoFit/>
          </a:bodyPr>
          <a:lstStyle/>
          <a:p>
            <a:r>
              <a:rPr lang="en-US" sz="4800" b="1" dirty="0">
                <a:solidFill>
                  <a:srgbClr val="002060"/>
                </a:solidFill>
              </a:rPr>
              <a:t>Sizing Your Poster</a:t>
            </a:r>
            <a:endParaRPr lang="en-US" sz="4800" dirty="0">
              <a:solidFill>
                <a:srgbClr val="002060"/>
              </a:solidFill>
            </a:endParaRPr>
          </a:p>
          <a:p>
            <a:pPr marL="571500" indent="-571500">
              <a:buFont typeface="Arial" panose="020B0604020202020204" pitchFamily="34" charset="0"/>
              <a:buChar char="•"/>
            </a:pPr>
            <a:r>
              <a:rPr lang="en-US" sz="4200" dirty="0"/>
              <a:t>Your overall poster size should not exceed 36 x 48 inches</a:t>
            </a:r>
          </a:p>
          <a:p>
            <a:pPr marL="571500" indent="-571500">
              <a:buFont typeface="Arial" panose="020B0604020202020204" pitchFamily="34" charset="0"/>
              <a:buChar char="•"/>
            </a:pPr>
            <a:r>
              <a:rPr lang="en-US" sz="4200" dirty="0"/>
              <a:t>You should always adjust the slide size BEFORE you start building your poster</a:t>
            </a:r>
          </a:p>
          <a:p>
            <a:pPr marL="571500" indent="-571500">
              <a:buFont typeface="Arial" panose="020B0604020202020204" pitchFamily="34" charset="0"/>
              <a:buChar char="•"/>
            </a:pPr>
            <a:r>
              <a:rPr lang="en-US" sz="4200" dirty="0"/>
              <a:t>You can adjust the slide size by going to the “design” tab, clicking the dropdown menu for slide size, and clicking “custom slide size”</a:t>
            </a:r>
          </a:p>
          <a:p>
            <a:pPr marL="571500" indent="-571500">
              <a:buFont typeface="Arial" panose="020B0604020202020204" pitchFamily="34" charset="0"/>
              <a:buChar char="•"/>
            </a:pPr>
            <a:endParaRPr lang="en-US" sz="4000" dirty="0"/>
          </a:p>
        </p:txBody>
      </p:sp>
      <p:graphicFrame>
        <p:nvGraphicFramePr>
          <p:cNvPr id="26" name="Diagram 25">
            <a:extLst>
              <a:ext uri="{FF2B5EF4-FFF2-40B4-BE49-F238E27FC236}">
                <a16:creationId xmlns:a16="http://schemas.microsoft.com/office/drawing/2014/main" id="{2907F331-56CA-6832-E990-27F0F8B9CF20}"/>
              </a:ext>
            </a:extLst>
          </p:cNvPr>
          <p:cNvGraphicFramePr/>
          <p:nvPr>
            <p:extLst>
              <p:ext uri="{D42A27DB-BD31-4B8C-83A1-F6EECF244321}">
                <p14:modId xmlns:p14="http://schemas.microsoft.com/office/powerpoint/2010/main" val="2156856739"/>
              </p:ext>
            </p:extLst>
          </p:nvPr>
        </p:nvGraphicFramePr>
        <p:xfrm>
          <a:off x="14730076" y="14323629"/>
          <a:ext cx="14218171" cy="54494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TextBox 26">
            <a:extLst>
              <a:ext uri="{FF2B5EF4-FFF2-40B4-BE49-F238E27FC236}">
                <a16:creationId xmlns:a16="http://schemas.microsoft.com/office/drawing/2014/main" id="{68D79B8A-7E12-98B0-776E-47B0EB670063}"/>
              </a:ext>
            </a:extLst>
          </p:cNvPr>
          <p:cNvSpPr txBox="1"/>
          <p:nvPr/>
        </p:nvSpPr>
        <p:spPr>
          <a:xfrm>
            <a:off x="13572938" y="19147780"/>
            <a:ext cx="16532449" cy="2800767"/>
          </a:xfrm>
          <a:prstGeom prst="rect">
            <a:avLst/>
          </a:prstGeom>
          <a:noFill/>
        </p:spPr>
        <p:txBody>
          <a:bodyPr wrap="square" rtlCol="0">
            <a:spAutoFit/>
          </a:bodyPr>
          <a:lstStyle/>
          <a:p>
            <a:r>
              <a:rPr lang="en-US" sz="4400" b="1" dirty="0"/>
              <a:t>Figure 1. The research poster process</a:t>
            </a:r>
          </a:p>
          <a:p>
            <a:r>
              <a:rPr lang="en-US" sz="4400" b="1" dirty="0"/>
              <a:t>(Figure caption approx. size 36 font, bold. It is not recommended to go smaller than this, as it will be difficult for people to read the poster at a distance)</a:t>
            </a:r>
          </a:p>
        </p:txBody>
      </p:sp>
      <p:sp>
        <p:nvSpPr>
          <p:cNvPr id="28" name="TextBox 27">
            <a:extLst>
              <a:ext uri="{FF2B5EF4-FFF2-40B4-BE49-F238E27FC236}">
                <a16:creationId xmlns:a16="http://schemas.microsoft.com/office/drawing/2014/main" id="{A9455A5B-85AC-5276-38F0-5254865DA5DA}"/>
              </a:ext>
            </a:extLst>
          </p:cNvPr>
          <p:cNvSpPr txBox="1"/>
          <p:nvPr/>
        </p:nvSpPr>
        <p:spPr>
          <a:xfrm>
            <a:off x="13572936" y="22321453"/>
            <a:ext cx="16532449" cy="3785652"/>
          </a:xfrm>
          <a:prstGeom prst="rect">
            <a:avLst/>
          </a:prstGeom>
          <a:noFill/>
        </p:spPr>
        <p:txBody>
          <a:bodyPr wrap="square" rtlCol="0">
            <a:spAutoFit/>
          </a:bodyPr>
          <a:lstStyle/>
          <a:p>
            <a:pPr marL="571500" indent="-571500">
              <a:buFont typeface="Arial" panose="020B0604020202020204" pitchFamily="34" charset="0"/>
              <a:buChar char="•"/>
            </a:pPr>
            <a:r>
              <a:rPr lang="en-US" sz="4800" dirty="0"/>
              <a:t>Use figures instead of text when possible</a:t>
            </a:r>
          </a:p>
          <a:p>
            <a:pPr marL="571500" indent="-571500">
              <a:buFont typeface="Arial" panose="020B0604020202020204" pitchFamily="34" charset="0"/>
              <a:buChar char="•"/>
            </a:pPr>
            <a:r>
              <a:rPr lang="en-US" sz="4800" dirty="0"/>
              <a:t>You can create figures by going to “insert” “smart art”</a:t>
            </a:r>
          </a:p>
          <a:p>
            <a:pPr marL="571500" indent="-571500">
              <a:buFont typeface="Arial" panose="020B0604020202020204" pitchFamily="34" charset="0"/>
              <a:buChar char="•"/>
            </a:pPr>
            <a:r>
              <a:rPr lang="en-US" sz="4800" dirty="0"/>
              <a:t>This makes your poster more visually appealing, and makes it easier for your audience to understand</a:t>
            </a:r>
          </a:p>
          <a:p>
            <a:pPr marL="571500" indent="-571500">
              <a:buFont typeface="Arial" panose="020B0604020202020204" pitchFamily="34" charset="0"/>
              <a:buChar char="•"/>
            </a:pPr>
            <a:endParaRPr lang="en-US" sz="4800" dirty="0"/>
          </a:p>
        </p:txBody>
      </p:sp>
      <p:sp>
        <p:nvSpPr>
          <p:cNvPr id="29" name="TextBox 28">
            <a:extLst>
              <a:ext uri="{FF2B5EF4-FFF2-40B4-BE49-F238E27FC236}">
                <a16:creationId xmlns:a16="http://schemas.microsoft.com/office/drawing/2014/main" id="{C8DCC48D-FD5C-A851-E619-BAC30E36F833}"/>
              </a:ext>
            </a:extLst>
          </p:cNvPr>
          <p:cNvSpPr txBox="1"/>
          <p:nvPr/>
        </p:nvSpPr>
        <p:spPr>
          <a:xfrm>
            <a:off x="1457513" y="20057566"/>
            <a:ext cx="10003167" cy="5262979"/>
          </a:xfrm>
          <a:prstGeom prst="rect">
            <a:avLst/>
          </a:prstGeom>
          <a:noFill/>
        </p:spPr>
        <p:txBody>
          <a:bodyPr wrap="square" rtlCol="0">
            <a:spAutoFit/>
          </a:bodyPr>
          <a:lstStyle/>
          <a:p>
            <a:r>
              <a:rPr lang="en-US" sz="4800" b="1" dirty="0">
                <a:solidFill>
                  <a:srgbClr val="002060"/>
                </a:solidFill>
              </a:rPr>
              <a:t>Tables:</a:t>
            </a:r>
          </a:p>
          <a:p>
            <a:pPr marL="571500" indent="-571500">
              <a:buFont typeface="Arial" panose="020B0604020202020204" pitchFamily="34" charset="0"/>
              <a:buChar char="•"/>
            </a:pPr>
            <a:r>
              <a:rPr lang="en-US" sz="4800" dirty="0"/>
              <a:t>First row as a heading should be around 48 </a:t>
            </a:r>
            <a:r>
              <a:rPr lang="en-US" sz="4800" dirty="0" err="1"/>
              <a:t>pt</a:t>
            </a:r>
            <a:r>
              <a:rPr lang="en-US" sz="4800" dirty="0"/>
              <a:t> font</a:t>
            </a:r>
          </a:p>
          <a:p>
            <a:pPr marL="571500" indent="-571500">
              <a:buFont typeface="Arial" panose="020B0604020202020204" pitchFamily="34" charset="0"/>
              <a:buChar char="•"/>
            </a:pPr>
            <a:r>
              <a:rPr lang="en-US" sz="4800" dirty="0"/>
              <a:t>The rest of the rows can be 40-44 </a:t>
            </a:r>
            <a:r>
              <a:rPr lang="en-US" sz="4800" dirty="0" err="1"/>
              <a:t>pt</a:t>
            </a:r>
            <a:r>
              <a:rPr lang="en-US" sz="4800" dirty="0"/>
              <a:t> font</a:t>
            </a:r>
          </a:p>
          <a:p>
            <a:pPr marL="571500" indent="-571500">
              <a:buFont typeface="Arial" panose="020B0604020202020204" pitchFamily="34" charset="0"/>
              <a:buChar char="•"/>
            </a:pPr>
            <a:r>
              <a:rPr lang="en-US" sz="4800" dirty="0"/>
              <a:t>Caption should be around 36 </a:t>
            </a:r>
            <a:r>
              <a:rPr lang="en-US" sz="4800" dirty="0" err="1"/>
              <a:t>pt</a:t>
            </a:r>
            <a:r>
              <a:rPr lang="en-US" sz="4800" dirty="0"/>
              <a:t> font</a:t>
            </a:r>
          </a:p>
          <a:p>
            <a:pPr marL="571500" indent="-571500">
              <a:buFont typeface="Arial" panose="020B0604020202020204" pitchFamily="34" charset="0"/>
              <a:buChar char="•"/>
            </a:pPr>
            <a:endParaRPr lang="en-US" sz="4800" dirty="0"/>
          </a:p>
        </p:txBody>
      </p:sp>
      <p:pic>
        <p:nvPicPr>
          <p:cNvPr id="31" name="Picture 30" descr="Logo, company name&#10;&#10;Description automatically generated">
            <a:extLst>
              <a:ext uri="{FF2B5EF4-FFF2-40B4-BE49-F238E27FC236}">
                <a16:creationId xmlns:a16="http://schemas.microsoft.com/office/drawing/2014/main" id="{A175C87C-8651-CE31-95FB-05C6B2EE3F0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276669" y="413477"/>
            <a:ext cx="4437416" cy="4143547"/>
          </a:xfrm>
          <a:prstGeom prst="rect">
            <a:avLst/>
          </a:prstGeom>
        </p:spPr>
      </p:pic>
      <p:pic>
        <p:nvPicPr>
          <p:cNvPr id="33" name="Picture 32" descr="Text&#10;&#10;Description automatically generated">
            <a:extLst>
              <a:ext uri="{FF2B5EF4-FFF2-40B4-BE49-F238E27FC236}">
                <a16:creationId xmlns:a16="http://schemas.microsoft.com/office/drawing/2014/main" id="{8D42E856-B370-AAF0-ED2D-9D6967A3428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7924997" y="792480"/>
            <a:ext cx="4960363" cy="3365335"/>
          </a:xfrm>
          <a:prstGeom prst="rect">
            <a:avLst/>
          </a:prstGeom>
        </p:spPr>
      </p:pic>
      <p:sp>
        <p:nvSpPr>
          <p:cNvPr id="3" name="TextBox 2">
            <a:extLst>
              <a:ext uri="{FF2B5EF4-FFF2-40B4-BE49-F238E27FC236}">
                <a16:creationId xmlns:a16="http://schemas.microsoft.com/office/drawing/2014/main" id="{EE31097B-930A-18D0-8070-A84F8A8B51F9}"/>
              </a:ext>
            </a:extLst>
          </p:cNvPr>
          <p:cNvSpPr txBox="1"/>
          <p:nvPr/>
        </p:nvSpPr>
        <p:spPr>
          <a:xfrm>
            <a:off x="1122218" y="2468205"/>
            <a:ext cx="12627429" cy="2585323"/>
          </a:xfrm>
          <a:prstGeom prst="rect">
            <a:avLst/>
          </a:prstGeom>
          <a:noFill/>
        </p:spPr>
        <p:txBody>
          <a:bodyPr wrap="square" rtlCol="0">
            <a:spAutoFit/>
          </a:bodyPr>
          <a:lstStyle/>
          <a:p>
            <a:pPr algn="ctr"/>
            <a:r>
              <a:rPr lang="en-US" sz="5400" dirty="0">
                <a:solidFill>
                  <a:schemeClr val="bg1"/>
                </a:solidFill>
              </a:rPr>
              <a:t>JOY SAHA</a:t>
            </a:r>
          </a:p>
          <a:p>
            <a:pPr algn="ctr"/>
            <a:r>
              <a:rPr lang="en-US" sz="5400" dirty="0">
                <a:solidFill>
                  <a:schemeClr val="bg1"/>
                </a:solidFill>
              </a:rPr>
              <a:t>University at Albany, Department of Electrical and Computer Engineering</a:t>
            </a:r>
          </a:p>
        </p:txBody>
      </p:sp>
      <p:sp>
        <p:nvSpPr>
          <p:cNvPr id="4" name="TextBox 3">
            <a:extLst>
              <a:ext uri="{FF2B5EF4-FFF2-40B4-BE49-F238E27FC236}">
                <a16:creationId xmlns:a16="http://schemas.microsoft.com/office/drawing/2014/main" id="{B3EF884E-C8FA-0034-13F5-42AC9C653794}"/>
              </a:ext>
            </a:extLst>
          </p:cNvPr>
          <p:cNvSpPr txBox="1"/>
          <p:nvPr/>
        </p:nvSpPr>
        <p:spPr>
          <a:xfrm>
            <a:off x="16802535" y="2400310"/>
            <a:ext cx="12627429" cy="2585323"/>
          </a:xfrm>
          <a:prstGeom prst="rect">
            <a:avLst/>
          </a:prstGeom>
          <a:noFill/>
        </p:spPr>
        <p:txBody>
          <a:bodyPr wrap="square" rtlCol="0">
            <a:spAutoFit/>
          </a:bodyPr>
          <a:lstStyle/>
          <a:p>
            <a:pPr algn="ctr"/>
            <a:r>
              <a:rPr lang="en-US" sz="5400" dirty="0">
                <a:solidFill>
                  <a:schemeClr val="bg1"/>
                </a:solidFill>
              </a:rPr>
              <a:t>Zi Yang</a:t>
            </a:r>
          </a:p>
          <a:p>
            <a:pPr algn="ctr"/>
            <a:r>
              <a:rPr lang="en-US" sz="5400" dirty="0">
                <a:solidFill>
                  <a:schemeClr val="bg1"/>
                </a:solidFill>
              </a:rPr>
              <a:t>University at Albany, Department of Mathematics and Statistics</a:t>
            </a:r>
          </a:p>
        </p:txBody>
      </p:sp>
    </p:spTree>
    <p:extLst>
      <p:ext uri="{BB962C8B-B14F-4D97-AF65-F5344CB8AC3E}">
        <p14:creationId xmlns:p14="http://schemas.microsoft.com/office/powerpoint/2010/main" val="3299072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4000">
              <a:schemeClr val="tx2">
                <a:lumMod val="40000"/>
                <a:lumOff val="60000"/>
                <a:alpha val="61000"/>
              </a:schemeClr>
            </a:gs>
            <a:gs pos="74000">
              <a:schemeClr val="accent3">
                <a:lumMod val="40000"/>
                <a:lumOff val="60000"/>
              </a:schemeClr>
            </a:gs>
            <a:gs pos="25000">
              <a:schemeClr val="accent3">
                <a:lumMod val="60000"/>
                <a:lumOff val="40000"/>
                <a:alpha val="43000"/>
              </a:schemeClr>
            </a:gs>
            <a:gs pos="98000">
              <a:schemeClr val="accent1">
                <a:lumMod val="40000"/>
                <a:lumOff val="60000"/>
              </a:schemeClr>
            </a:gs>
          </a:gsLst>
          <a:lin ang="540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5C3334-72B5-1C3C-BF5B-5C62290A12B6}"/>
              </a:ext>
            </a:extLst>
          </p:cNvPr>
          <p:cNvSpPr/>
          <p:nvPr/>
        </p:nvSpPr>
        <p:spPr>
          <a:xfrm>
            <a:off x="917863" y="8433956"/>
            <a:ext cx="5320146" cy="3449781"/>
          </a:xfrm>
          <a:prstGeom prst="rect">
            <a:avLst/>
          </a:prstGeom>
          <a:solidFill>
            <a:srgbClr val="00CC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08C7C6E-38E0-8489-E325-40CF9C337B93}"/>
              </a:ext>
            </a:extLst>
          </p:cNvPr>
          <p:cNvSpPr/>
          <p:nvPr/>
        </p:nvSpPr>
        <p:spPr>
          <a:xfrm>
            <a:off x="1402772" y="9043556"/>
            <a:ext cx="5320146" cy="3449781"/>
          </a:xfrm>
          <a:prstGeom prst="rect">
            <a:avLst/>
          </a:prstGeom>
          <a:solidFill>
            <a:srgbClr val="3399FF"/>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D014E42-A205-43F5-1313-D29AFEC94432}"/>
              </a:ext>
            </a:extLst>
          </p:cNvPr>
          <p:cNvSpPr/>
          <p:nvPr/>
        </p:nvSpPr>
        <p:spPr>
          <a:xfrm>
            <a:off x="2095499" y="9694719"/>
            <a:ext cx="5320146" cy="3449781"/>
          </a:xfrm>
          <a:prstGeom prst="rect">
            <a:avLst/>
          </a:prstGeom>
          <a:solidFill>
            <a:srgbClr val="FF3399"/>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3AF0221-2EFB-E887-FAA3-9E3C56019095}"/>
              </a:ext>
            </a:extLst>
          </p:cNvPr>
          <p:cNvSpPr/>
          <p:nvPr/>
        </p:nvSpPr>
        <p:spPr>
          <a:xfrm>
            <a:off x="11180617" y="78970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49" name="Rectangle 48">
            <a:extLst>
              <a:ext uri="{FF2B5EF4-FFF2-40B4-BE49-F238E27FC236}">
                <a16:creationId xmlns:a16="http://schemas.microsoft.com/office/drawing/2014/main" id="{608CD7C4-4C6D-7DFB-F15E-5CF0527AA08F}"/>
              </a:ext>
            </a:extLst>
          </p:cNvPr>
          <p:cNvSpPr/>
          <p:nvPr/>
        </p:nvSpPr>
        <p:spPr>
          <a:xfrm>
            <a:off x="11333017" y="80494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0" name="Rectangle 49">
            <a:extLst>
              <a:ext uri="{FF2B5EF4-FFF2-40B4-BE49-F238E27FC236}">
                <a16:creationId xmlns:a16="http://schemas.microsoft.com/office/drawing/2014/main" id="{2FC4A108-6317-647F-C2D3-13D581010680}"/>
              </a:ext>
            </a:extLst>
          </p:cNvPr>
          <p:cNvSpPr/>
          <p:nvPr/>
        </p:nvSpPr>
        <p:spPr>
          <a:xfrm>
            <a:off x="11485417" y="82018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1" name="Rectangle 50">
            <a:extLst>
              <a:ext uri="{FF2B5EF4-FFF2-40B4-BE49-F238E27FC236}">
                <a16:creationId xmlns:a16="http://schemas.microsoft.com/office/drawing/2014/main" id="{D9A8CD9E-7282-8E44-4244-5CC60D4DA49B}"/>
              </a:ext>
            </a:extLst>
          </p:cNvPr>
          <p:cNvSpPr/>
          <p:nvPr/>
        </p:nvSpPr>
        <p:spPr>
          <a:xfrm>
            <a:off x="11637817" y="83542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2" name="Rectangle 51">
            <a:extLst>
              <a:ext uri="{FF2B5EF4-FFF2-40B4-BE49-F238E27FC236}">
                <a16:creationId xmlns:a16="http://schemas.microsoft.com/office/drawing/2014/main" id="{B832B1DA-B4B1-63A9-E032-DCB8DF8FA18E}"/>
              </a:ext>
            </a:extLst>
          </p:cNvPr>
          <p:cNvSpPr/>
          <p:nvPr/>
        </p:nvSpPr>
        <p:spPr>
          <a:xfrm>
            <a:off x="11790217" y="85066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3" name="Rectangle 52">
            <a:extLst>
              <a:ext uri="{FF2B5EF4-FFF2-40B4-BE49-F238E27FC236}">
                <a16:creationId xmlns:a16="http://schemas.microsoft.com/office/drawing/2014/main" id="{F145E25B-FF37-7CA6-025E-145900FE8C7D}"/>
              </a:ext>
            </a:extLst>
          </p:cNvPr>
          <p:cNvSpPr/>
          <p:nvPr/>
        </p:nvSpPr>
        <p:spPr>
          <a:xfrm>
            <a:off x="11942617" y="86590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4" name="Rectangle 53">
            <a:extLst>
              <a:ext uri="{FF2B5EF4-FFF2-40B4-BE49-F238E27FC236}">
                <a16:creationId xmlns:a16="http://schemas.microsoft.com/office/drawing/2014/main" id="{CC6B1A90-1F4A-CA6F-F940-9943EAE8CB37}"/>
              </a:ext>
            </a:extLst>
          </p:cNvPr>
          <p:cNvSpPr/>
          <p:nvPr/>
        </p:nvSpPr>
        <p:spPr>
          <a:xfrm>
            <a:off x="12095017" y="88114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5" name="Rectangle 54">
            <a:extLst>
              <a:ext uri="{FF2B5EF4-FFF2-40B4-BE49-F238E27FC236}">
                <a16:creationId xmlns:a16="http://schemas.microsoft.com/office/drawing/2014/main" id="{322A6279-AC48-236E-8D4E-18E874B56757}"/>
              </a:ext>
            </a:extLst>
          </p:cNvPr>
          <p:cNvSpPr/>
          <p:nvPr/>
        </p:nvSpPr>
        <p:spPr>
          <a:xfrm>
            <a:off x="12247417" y="89638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6" name="Rectangle 55">
            <a:extLst>
              <a:ext uri="{FF2B5EF4-FFF2-40B4-BE49-F238E27FC236}">
                <a16:creationId xmlns:a16="http://schemas.microsoft.com/office/drawing/2014/main" id="{B4B23A20-B109-8D81-DD2A-F1496FC70179}"/>
              </a:ext>
            </a:extLst>
          </p:cNvPr>
          <p:cNvSpPr/>
          <p:nvPr/>
        </p:nvSpPr>
        <p:spPr>
          <a:xfrm>
            <a:off x="12399817" y="91162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7" name="Rectangle 56">
            <a:extLst>
              <a:ext uri="{FF2B5EF4-FFF2-40B4-BE49-F238E27FC236}">
                <a16:creationId xmlns:a16="http://schemas.microsoft.com/office/drawing/2014/main" id="{A5F34A58-B793-AD35-7EE5-F9D50BB1122A}"/>
              </a:ext>
            </a:extLst>
          </p:cNvPr>
          <p:cNvSpPr/>
          <p:nvPr/>
        </p:nvSpPr>
        <p:spPr>
          <a:xfrm>
            <a:off x="12552217" y="92686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8" name="Rectangle 57">
            <a:extLst>
              <a:ext uri="{FF2B5EF4-FFF2-40B4-BE49-F238E27FC236}">
                <a16:creationId xmlns:a16="http://schemas.microsoft.com/office/drawing/2014/main" id="{3FAA1891-BBE0-F976-B9D4-5655AC334E3F}"/>
              </a:ext>
            </a:extLst>
          </p:cNvPr>
          <p:cNvSpPr/>
          <p:nvPr/>
        </p:nvSpPr>
        <p:spPr>
          <a:xfrm>
            <a:off x="12704617" y="94210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59" name="Rectangle 58">
            <a:extLst>
              <a:ext uri="{FF2B5EF4-FFF2-40B4-BE49-F238E27FC236}">
                <a16:creationId xmlns:a16="http://schemas.microsoft.com/office/drawing/2014/main" id="{11A254D7-24AF-0A3F-799E-F2B46A39D88C}"/>
              </a:ext>
            </a:extLst>
          </p:cNvPr>
          <p:cNvSpPr/>
          <p:nvPr/>
        </p:nvSpPr>
        <p:spPr>
          <a:xfrm>
            <a:off x="12857017" y="95734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60" name="Rectangle 59">
            <a:extLst>
              <a:ext uri="{FF2B5EF4-FFF2-40B4-BE49-F238E27FC236}">
                <a16:creationId xmlns:a16="http://schemas.microsoft.com/office/drawing/2014/main" id="{ACEDE07D-59A7-8E0E-228A-6ED40CC8B91F}"/>
              </a:ext>
            </a:extLst>
          </p:cNvPr>
          <p:cNvSpPr/>
          <p:nvPr/>
        </p:nvSpPr>
        <p:spPr>
          <a:xfrm>
            <a:off x="13009417" y="97258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61" name="Rectangle 60">
            <a:extLst>
              <a:ext uri="{FF2B5EF4-FFF2-40B4-BE49-F238E27FC236}">
                <a16:creationId xmlns:a16="http://schemas.microsoft.com/office/drawing/2014/main" id="{1FD71487-C2A6-528E-F1F6-7832C3024835}"/>
              </a:ext>
            </a:extLst>
          </p:cNvPr>
          <p:cNvSpPr/>
          <p:nvPr/>
        </p:nvSpPr>
        <p:spPr>
          <a:xfrm>
            <a:off x="13161817" y="98782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62" name="Rectangle 61">
            <a:extLst>
              <a:ext uri="{FF2B5EF4-FFF2-40B4-BE49-F238E27FC236}">
                <a16:creationId xmlns:a16="http://schemas.microsoft.com/office/drawing/2014/main" id="{106DEACE-B8F2-B888-ADE1-4B8F0761AE5E}"/>
              </a:ext>
            </a:extLst>
          </p:cNvPr>
          <p:cNvSpPr/>
          <p:nvPr/>
        </p:nvSpPr>
        <p:spPr>
          <a:xfrm>
            <a:off x="13314217" y="100306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63" name="Rectangle 62">
            <a:extLst>
              <a:ext uri="{FF2B5EF4-FFF2-40B4-BE49-F238E27FC236}">
                <a16:creationId xmlns:a16="http://schemas.microsoft.com/office/drawing/2014/main" id="{14AF1B2C-A276-1164-9D51-7AFA2C8F9DA5}"/>
              </a:ext>
            </a:extLst>
          </p:cNvPr>
          <p:cNvSpPr/>
          <p:nvPr/>
        </p:nvSpPr>
        <p:spPr>
          <a:xfrm>
            <a:off x="13466617" y="101830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64" name="Rectangle 63">
            <a:extLst>
              <a:ext uri="{FF2B5EF4-FFF2-40B4-BE49-F238E27FC236}">
                <a16:creationId xmlns:a16="http://schemas.microsoft.com/office/drawing/2014/main" id="{A80ECCD3-FC3F-7E39-2F46-B2735B1C140F}"/>
              </a:ext>
            </a:extLst>
          </p:cNvPr>
          <p:cNvSpPr/>
          <p:nvPr/>
        </p:nvSpPr>
        <p:spPr>
          <a:xfrm>
            <a:off x="13619017" y="103354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65" name="Rectangle 64">
            <a:extLst>
              <a:ext uri="{FF2B5EF4-FFF2-40B4-BE49-F238E27FC236}">
                <a16:creationId xmlns:a16="http://schemas.microsoft.com/office/drawing/2014/main" id="{CC78DAA2-D7B4-7DA9-A217-DDD4EE51651D}"/>
              </a:ext>
            </a:extLst>
          </p:cNvPr>
          <p:cNvSpPr/>
          <p:nvPr/>
        </p:nvSpPr>
        <p:spPr>
          <a:xfrm>
            <a:off x="13771417" y="104878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66" name="Rectangle 65">
            <a:extLst>
              <a:ext uri="{FF2B5EF4-FFF2-40B4-BE49-F238E27FC236}">
                <a16:creationId xmlns:a16="http://schemas.microsoft.com/office/drawing/2014/main" id="{1D408AA7-59D1-0E11-3D81-91006E327F3E}"/>
              </a:ext>
            </a:extLst>
          </p:cNvPr>
          <p:cNvSpPr/>
          <p:nvPr/>
        </p:nvSpPr>
        <p:spPr>
          <a:xfrm>
            <a:off x="13923817" y="10640293"/>
            <a:ext cx="3948545" cy="3491346"/>
          </a:xfrm>
          <a:prstGeom prst="rect">
            <a:avLst/>
          </a:prstGeom>
          <a:solidFill>
            <a:srgbClr val="CC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3399FF"/>
              </a:solidFill>
            </a:endParaRPr>
          </a:p>
        </p:txBody>
      </p:sp>
      <p:sp>
        <p:nvSpPr>
          <p:cNvPr id="84" name="Rectangle 83">
            <a:extLst>
              <a:ext uri="{FF2B5EF4-FFF2-40B4-BE49-F238E27FC236}">
                <a16:creationId xmlns:a16="http://schemas.microsoft.com/office/drawing/2014/main" id="{D6EA1D60-C11F-AEA7-CA5A-948329C089D4}"/>
              </a:ext>
            </a:extLst>
          </p:cNvPr>
          <p:cNvSpPr/>
          <p:nvPr/>
        </p:nvSpPr>
        <p:spPr>
          <a:xfrm>
            <a:off x="21502254" y="90574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429C4B50-EB5D-A00C-AF10-DAED53567108}"/>
              </a:ext>
            </a:extLst>
          </p:cNvPr>
          <p:cNvSpPr/>
          <p:nvPr/>
        </p:nvSpPr>
        <p:spPr>
          <a:xfrm>
            <a:off x="5572990" y="10844647"/>
            <a:ext cx="789710" cy="706581"/>
          </a:xfrm>
          <a:prstGeom prst="rect">
            <a:avLst/>
          </a:prstGeom>
          <a:solidFill>
            <a:srgbClr val="66FF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Straight Connector 86">
            <a:extLst>
              <a:ext uri="{FF2B5EF4-FFF2-40B4-BE49-F238E27FC236}">
                <a16:creationId xmlns:a16="http://schemas.microsoft.com/office/drawing/2014/main" id="{36FD7857-5419-003F-C126-63FC7A03C494}"/>
              </a:ext>
            </a:extLst>
          </p:cNvPr>
          <p:cNvCxnSpPr>
            <a:cxnSpLocks/>
          </p:cNvCxnSpPr>
          <p:nvPr/>
        </p:nvCxnSpPr>
        <p:spPr>
          <a:xfrm>
            <a:off x="6363565" y="11554692"/>
            <a:ext cx="8100580" cy="1246909"/>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5FE86F1-D4F4-8490-A10E-0C4D5A31B716}"/>
              </a:ext>
            </a:extLst>
          </p:cNvPr>
          <p:cNvCxnSpPr>
            <a:cxnSpLocks/>
          </p:cNvCxnSpPr>
          <p:nvPr/>
        </p:nvCxnSpPr>
        <p:spPr>
          <a:xfrm>
            <a:off x="6350230" y="10838412"/>
            <a:ext cx="8100060" cy="195834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93FFF09B-FA50-7A3D-C5C5-33F8393FFBE0}"/>
              </a:ext>
            </a:extLst>
          </p:cNvPr>
          <p:cNvSpPr/>
          <p:nvPr/>
        </p:nvSpPr>
        <p:spPr>
          <a:xfrm>
            <a:off x="21654654" y="92098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C462429B-99F5-3604-94FC-970B26E31B19}"/>
              </a:ext>
            </a:extLst>
          </p:cNvPr>
          <p:cNvSpPr/>
          <p:nvPr/>
        </p:nvSpPr>
        <p:spPr>
          <a:xfrm>
            <a:off x="21807054" y="93622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76AEAFE3-690A-CD88-6973-B9FA0AB2AE6B}"/>
              </a:ext>
            </a:extLst>
          </p:cNvPr>
          <p:cNvSpPr/>
          <p:nvPr/>
        </p:nvSpPr>
        <p:spPr>
          <a:xfrm>
            <a:off x="21959454" y="95146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7661A55B-EA5B-EF25-7FB1-94647735DDF7}"/>
              </a:ext>
            </a:extLst>
          </p:cNvPr>
          <p:cNvSpPr/>
          <p:nvPr/>
        </p:nvSpPr>
        <p:spPr>
          <a:xfrm>
            <a:off x="22111854" y="96670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268F72AB-56D4-CC83-BCE4-4E564C58EBF6}"/>
              </a:ext>
            </a:extLst>
          </p:cNvPr>
          <p:cNvSpPr/>
          <p:nvPr/>
        </p:nvSpPr>
        <p:spPr>
          <a:xfrm>
            <a:off x="22264254" y="98194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CEFFE3CA-F195-38F5-B849-85E53C2FF474}"/>
              </a:ext>
            </a:extLst>
          </p:cNvPr>
          <p:cNvSpPr/>
          <p:nvPr/>
        </p:nvSpPr>
        <p:spPr>
          <a:xfrm>
            <a:off x="22416654" y="99718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F09F53A1-BBDE-3AE2-C5C0-4966D5B327AD}"/>
              </a:ext>
            </a:extLst>
          </p:cNvPr>
          <p:cNvSpPr/>
          <p:nvPr/>
        </p:nvSpPr>
        <p:spPr>
          <a:xfrm>
            <a:off x="22569054" y="101242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B21F654-382C-DBA5-CDB5-D503E2CA132F}"/>
              </a:ext>
            </a:extLst>
          </p:cNvPr>
          <p:cNvSpPr/>
          <p:nvPr/>
        </p:nvSpPr>
        <p:spPr>
          <a:xfrm>
            <a:off x="22721454" y="102766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CCC72122-0DB8-8BCD-DD94-0DBD8DE4A8EB}"/>
              </a:ext>
            </a:extLst>
          </p:cNvPr>
          <p:cNvSpPr/>
          <p:nvPr/>
        </p:nvSpPr>
        <p:spPr>
          <a:xfrm>
            <a:off x="22873854" y="104290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79BE3B0E-761E-2C85-E149-73CF54F28477}"/>
              </a:ext>
            </a:extLst>
          </p:cNvPr>
          <p:cNvSpPr/>
          <p:nvPr/>
        </p:nvSpPr>
        <p:spPr>
          <a:xfrm>
            <a:off x="23026254" y="105814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DC698CF2-4C0E-776F-15DF-02D70E87851D}"/>
              </a:ext>
            </a:extLst>
          </p:cNvPr>
          <p:cNvSpPr/>
          <p:nvPr/>
        </p:nvSpPr>
        <p:spPr>
          <a:xfrm>
            <a:off x="23178654" y="10733811"/>
            <a:ext cx="3158836" cy="2244437"/>
          </a:xfrm>
          <a:prstGeom prst="rect">
            <a:avLst/>
          </a:prstGeom>
          <a:solidFill>
            <a:srgbClr val="66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3D8352C2-550D-3106-38EE-77BACEC77FF2}"/>
              </a:ext>
            </a:extLst>
          </p:cNvPr>
          <p:cNvSpPr/>
          <p:nvPr/>
        </p:nvSpPr>
        <p:spPr>
          <a:xfrm>
            <a:off x="15974290" y="11249892"/>
            <a:ext cx="800100" cy="647700"/>
          </a:xfrm>
          <a:prstGeom prst="rect">
            <a:avLst/>
          </a:prstGeom>
          <a:solidFill>
            <a:srgbClr val="00AA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Straight Connector 152">
            <a:extLst>
              <a:ext uri="{FF2B5EF4-FFF2-40B4-BE49-F238E27FC236}">
                <a16:creationId xmlns:a16="http://schemas.microsoft.com/office/drawing/2014/main" id="{8E22FCC7-B592-1B4B-5E9E-C5463452B202}"/>
              </a:ext>
            </a:extLst>
          </p:cNvPr>
          <p:cNvCxnSpPr>
            <a:cxnSpLocks/>
          </p:cNvCxnSpPr>
          <p:nvPr/>
        </p:nvCxnSpPr>
        <p:spPr>
          <a:xfrm>
            <a:off x="16725900" y="11894127"/>
            <a:ext cx="7325590" cy="689265"/>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DDAC9FB-9A27-F0EB-3610-FD7FD7B84C67}"/>
              </a:ext>
            </a:extLst>
          </p:cNvPr>
          <p:cNvCxnSpPr>
            <a:cxnSpLocks/>
          </p:cNvCxnSpPr>
          <p:nvPr/>
        </p:nvCxnSpPr>
        <p:spPr>
          <a:xfrm>
            <a:off x="16742229" y="11275455"/>
            <a:ext cx="7280232" cy="130249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71" name="Oval 170">
            <a:extLst>
              <a:ext uri="{FF2B5EF4-FFF2-40B4-BE49-F238E27FC236}">
                <a16:creationId xmlns:a16="http://schemas.microsoft.com/office/drawing/2014/main" id="{B9966D05-02DA-6801-18A3-2816D2F6EB1E}"/>
              </a:ext>
            </a:extLst>
          </p:cNvPr>
          <p:cNvSpPr/>
          <p:nvPr/>
        </p:nvSpPr>
        <p:spPr>
          <a:xfrm>
            <a:off x="33786451" y="16055255"/>
            <a:ext cx="859220" cy="960437"/>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E31ADF2C-C138-8B13-0A71-FAB9849BCE56}"/>
              </a:ext>
            </a:extLst>
          </p:cNvPr>
          <p:cNvSpPr/>
          <p:nvPr/>
        </p:nvSpPr>
        <p:spPr>
          <a:xfrm>
            <a:off x="33799151" y="14736247"/>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59BF0FB2-EE90-2EC2-FD10-2B4898F32D48}"/>
              </a:ext>
            </a:extLst>
          </p:cNvPr>
          <p:cNvSpPr/>
          <p:nvPr/>
        </p:nvSpPr>
        <p:spPr>
          <a:xfrm>
            <a:off x="33773751" y="13453547"/>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8415B497-517C-D9BC-C620-45510536C5C9}"/>
              </a:ext>
            </a:extLst>
          </p:cNvPr>
          <p:cNvSpPr/>
          <p:nvPr/>
        </p:nvSpPr>
        <p:spPr>
          <a:xfrm>
            <a:off x="33801873" y="10630519"/>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631A6C7B-B1AA-D3E9-B00F-628239410B78}"/>
              </a:ext>
            </a:extLst>
          </p:cNvPr>
          <p:cNvSpPr/>
          <p:nvPr/>
        </p:nvSpPr>
        <p:spPr>
          <a:xfrm>
            <a:off x="33801873" y="9319697"/>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1207ECE1-7B3A-7517-0A98-74D29FDD11DA}"/>
              </a:ext>
            </a:extLst>
          </p:cNvPr>
          <p:cNvSpPr/>
          <p:nvPr/>
        </p:nvSpPr>
        <p:spPr>
          <a:xfrm>
            <a:off x="33794616" y="8016133"/>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535239B4-5A00-C2C5-0A6F-F3E0BFA68036}"/>
              </a:ext>
            </a:extLst>
          </p:cNvPr>
          <p:cNvSpPr/>
          <p:nvPr/>
        </p:nvSpPr>
        <p:spPr>
          <a:xfrm>
            <a:off x="33771030" y="6670839"/>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61DEBAB5-A028-ADB2-02A3-6D453BF26CF3}"/>
              </a:ext>
            </a:extLst>
          </p:cNvPr>
          <p:cNvSpPr/>
          <p:nvPr/>
        </p:nvSpPr>
        <p:spPr>
          <a:xfrm>
            <a:off x="33799151" y="5386326"/>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EEA5FA91-C89E-B5C5-DC11-A7CCA8C51DE0}"/>
              </a:ext>
            </a:extLst>
          </p:cNvPr>
          <p:cNvSpPr/>
          <p:nvPr/>
        </p:nvSpPr>
        <p:spPr>
          <a:xfrm>
            <a:off x="36464110" y="7711356"/>
            <a:ext cx="850490" cy="974724"/>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9FA7F0A5-2AFE-087F-1383-9C23B81436D2}"/>
              </a:ext>
            </a:extLst>
          </p:cNvPr>
          <p:cNvSpPr/>
          <p:nvPr/>
        </p:nvSpPr>
        <p:spPr>
          <a:xfrm>
            <a:off x="36468873" y="9281597"/>
            <a:ext cx="850490" cy="971345"/>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a:extLst>
              <a:ext uri="{FF2B5EF4-FFF2-40B4-BE49-F238E27FC236}">
                <a16:creationId xmlns:a16="http://schemas.microsoft.com/office/drawing/2014/main" id="{638124D5-A963-C071-FFFD-5BD57EAF0F9E}"/>
              </a:ext>
            </a:extLst>
          </p:cNvPr>
          <p:cNvSpPr/>
          <p:nvPr/>
        </p:nvSpPr>
        <p:spPr>
          <a:xfrm>
            <a:off x="36449823" y="12405797"/>
            <a:ext cx="850490" cy="971345"/>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8B8C7835-76A5-82ED-E06C-6ABEB7EEE130}"/>
              </a:ext>
            </a:extLst>
          </p:cNvPr>
          <p:cNvSpPr/>
          <p:nvPr/>
        </p:nvSpPr>
        <p:spPr>
          <a:xfrm>
            <a:off x="36449823" y="13777397"/>
            <a:ext cx="850490" cy="971345"/>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0" name="Straight Connector 189">
            <a:extLst>
              <a:ext uri="{FF2B5EF4-FFF2-40B4-BE49-F238E27FC236}">
                <a16:creationId xmlns:a16="http://schemas.microsoft.com/office/drawing/2014/main" id="{24ED4DF0-2C23-2CA0-53E5-0BBE230FC7F7}"/>
              </a:ext>
            </a:extLst>
          </p:cNvPr>
          <p:cNvCxnSpPr>
            <a:cxnSpLocks/>
            <a:stCxn id="180" idx="6"/>
            <a:endCxn id="184" idx="2"/>
          </p:cNvCxnSpPr>
          <p:nvPr/>
        </p:nvCxnSpPr>
        <p:spPr>
          <a:xfrm>
            <a:off x="34649641" y="5871999"/>
            <a:ext cx="1814469" cy="2326719"/>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92" name="Oval 191">
            <a:extLst>
              <a:ext uri="{FF2B5EF4-FFF2-40B4-BE49-F238E27FC236}">
                <a16:creationId xmlns:a16="http://schemas.microsoft.com/office/drawing/2014/main" id="{5A8E1826-83ED-91D3-919F-D758909A02D9}"/>
              </a:ext>
            </a:extLst>
          </p:cNvPr>
          <p:cNvSpPr/>
          <p:nvPr/>
        </p:nvSpPr>
        <p:spPr>
          <a:xfrm>
            <a:off x="36468873" y="10862747"/>
            <a:ext cx="850490" cy="971345"/>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6CA2AB38-4C07-E857-E61C-F0E2D110BC8F}"/>
              </a:ext>
            </a:extLst>
          </p:cNvPr>
          <p:cNvSpPr/>
          <p:nvPr/>
        </p:nvSpPr>
        <p:spPr>
          <a:xfrm>
            <a:off x="33782823" y="12097369"/>
            <a:ext cx="850490" cy="971345"/>
          </a:xfrm>
          <a:prstGeom prst="ellipse">
            <a:avLst/>
          </a:prstGeom>
          <a:solidFill>
            <a:srgbClr val="6666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7" name="Straight Connector 196">
            <a:extLst>
              <a:ext uri="{FF2B5EF4-FFF2-40B4-BE49-F238E27FC236}">
                <a16:creationId xmlns:a16="http://schemas.microsoft.com/office/drawing/2014/main" id="{EB12925C-4E30-E13A-1828-C3277A537A41}"/>
              </a:ext>
            </a:extLst>
          </p:cNvPr>
          <p:cNvCxnSpPr>
            <a:cxnSpLocks/>
            <a:stCxn id="179" idx="6"/>
            <a:endCxn id="185" idx="2"/>
          </p:cNvCxnSpPr>
          <p:nvPr/>
        </p:nvCxnSpPr>
        <p:spPr>
          <a:xfrm>
            <a:off x="34621520" y="7156512"/>
            <a:ext cx="1847353" cy="261075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FCE6B7B8-E747-D06C-9A22-551C5AE9E44F}"/>
              </a:ext>
            </a:extLst>
          </p:cNvPr>
          <p:cNvCxnSpPr>
            <a:cxnSpLocks/>
            <a:stCxn id="178" idx="6"/>
            <a:endCxn id="192" idx="2"/>
          </p:cNvCxnSpPr>
          <p:nvPr/>
        </p:nvCxnSpPr>
        <p:spPr>
          <a:xfrm>
            <a:off x="34645106" y="8501806"/>
            <a:ext cx="1823767" cy="284661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F31A6FC-592F-6A13-B041-5DA661A396A8}"/>
              </a:ext>
            </a:extLst>
          </p:cNvPr>
          <p:cNvCxnSpPr>
            <a:cxnSpLocks/>
            <a:stCxn id="177" idx="6"/>
            <a:endCxn id="186" idx="2"/>
          </p:cNvCxnSpPr>
          <p:nvPr/>
        </p:nvCxnSpPr>
        <p:spPr>
          <a:xfrm>
            <a:off x="34652363" y="9805370"/>
            <a:ext cx="1797460" cy="308610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13C59073-3B48-4E74-E57C-D6B884781133}"/>
              </a:ext>
            </a:extLst>
          </p:cNvPr>
          <p:cNvCxnSpPr>
            <a:cxnSpLocks/>
            <a:stCxn id="176" idx="6"/>
            <a:endCxn id="187" idx="2"/>
          </p:cNvCxnSpPr>
          <p:nvPr/>
        </p:nvCxnSpPr>
        <p:spPr>
          <a:xfrm>
            <a:off x="34652363" y="11116192"/>
            <a:ext cx="1797460" cy="314687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565ACCB-DBF2-5B99-A90D-0CA0EE3FE929}"/>
              </a:ext>
            </a:extLst>
          </p:cNvPr>
          <p:cNvCxnSpPr>
            <a:cxnSpLocks/>
            <a:stCxn id="180" idx="6"/>
            <a:endCxn id="185" idx="2"/>
          </p:cNvCxnSpPr>
          <p:nvPr/>
        </p:nvCxnSpPr>
        <p:spPr>
          <a:xfrm>
            <a:off x="34649641" y="5871999"/>
            <a:ext cx="1819232" cy="3895271"/>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9EDEF4AE-F66F-6E94-4C31-5BDB30F7C11D}"/>
              </a:ext>
            </a:extLst>
          </p:cNvPr>
          <p:cNvCxnSpPr>
            <a:cxnSpLocks/>
            <a:stCxn id="180" idx="6"/>
            <a:endCxn id="192" idx="2"/>
          </p:cNvCxnSpPr>
          <p:nvPr/>
        </p:nvCxnSpPr>
        <p:spPr>
          <a:xfrm>
            <a:off x="34649641" y="5871999"/>
            <a:ext cx="1819232" cy="5476421"/>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0DB685E5-98A2-1802-500D-7A4D72B2C010}"/>
              </a:ext>
            </a:extLst>
          </p:cNvPr>
          <p:cNvCxnSpPr>
            <a:cxnSpLocks/>
            <a:stCxn id="180" idx="6"/>
            <a:endCxn id="186" idx="2"/>
          </p:cNvCxnSpPr>
          <p:nvPr/>
        </p:nvCxnSpPr>
        <p:spPr>
          <a:xfrm>
            <a:off x="34649641" y="5871999"/>
            <a:ext cx="1800182" cy="7019471"/>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C10DA067-8730-4826-FECC-FA040847C169}"/>
              </a:ext>
            </a:extLst>
          </p:cNvPr>
          <p:cNvCxnSpPr>
            <a:cxnSpLocks/>
            <a:stCxn id="179" idx="6"/>
            <a:endCxn id="192" idx="2"/>
          </p:cNvCxnSpPr>
          <p:nvPr/>
        </p:nvCxnSpPr>
        <p:spPr>
          <a:xfrm>
            <a:off x="34621520" y="7156512"/>
            <a:ext cx="1847353" cy="419190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7708F8F4-4302-909C-A1AC-7714642D6132}"/>
              </a:ext>
            </a:extLst>
          </p:cNvPr>
          <p:cNvCxnSpPr>
            <a:cxnSpLocks/>
            <a:stCxn id="179" idx="6"/>
            <a:endCxn id="187" idx="2"/>
          </p:cNvCxnSpPr>
          <p:nvPr/>
        </p:nvCxnSpPr>
        <p:spPr>
          <a:xfrm>
            <a:off x="34621520" y="7156512"/>
            <a:ext cx="1828303" cy="710655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718D981D-E78E-8699-0019-D2E262D0FE78}"/>
              </a:ext>
            </a:extLst>
          </p:cNvPr>
          <p:cNvCxnSpPr>
            <a:cxnSpLocks/>
            <a:stCxn id="177" idx="6"/>
            <a:endCxn id="187" idx="2"/>
          </p:cNvCxnSpPr>
          <p:nvPr/>
        </p:nvCxnSpPr>
        <p:spPr>
          <a:xfrm>
            <a:off x="34652363" y="9805370"/>
            <a:ext cx="1797460" cy="445770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C94A7F8-A7E2-5660-87D7-147CA1AC7F9B}"/>
              </a:ext>
            </a:extLst>
          </p:cNvPr>
          <p:cNvCxnSpPr>
            <a:cxnSpLocks/>
            <a:stCxn id="176" idx="6"/>
            <a:endCxn id="186" idx="2"/>
          </p:cNvCxnSpPr>
          <p:nvPr/>
        </p:nvCxnSpPr>
        <p:spPr>
          <a:xfrm>
            <a:off x="34652363" y="11116192"/>
            <a:ext cx="1797460" cy="177527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606C2000-BDCB-4F36-758F-17EAA1F56726}"/>
              </a:ext>
            </a:extLst>
          </p:cNvPr>
          <p:cNvCxnSpPr>
            <a:cxnSpLocks/>
            <a:stCxn id="179" idx="6"/>
            <a:endCxn id="184" idx="2"/>
          </p:cNvCxnSpPr>
          <p:nvPr/>
        </p:nvCxnSpPr>
        <p:spPr>
          <a:xfrm>
            <a:off x="34621520" y="7156512"/>
            <a:ext cx="1842590" cy="1042206"/>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1999B3F5-3D7A-31FA-7519-4048FEC75970}"/>
              </a:ext>
            </a:extLst>
          </p:cNvPr>
          <p:cNvCxnSpPr>
            <a:cxnSpLocks/>
            <a:stCxn id="178" idx="6"/>
            <a:endCxn id="184" idx="2"/>
          </p:cNvCxnSpPr>
          <p:nvPr/>
        </p:nvCxnSpPr>
        <p:spPr>
          <a:xfrm flipV="1">
            <a:off x="34645106" y="8198718"/>
            <a:ext cx="1819004" cy="30308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5B54EA9-B5E5-9278-8475-A0BCA8153275}"/>
              </a:ext>
            </a:extLst>
          </p:cNvPr>
          <p:cNvCxnSpPr>
            <a:cxnSpLocks/>
            <a:stCxn id="177" idx="6"/>
            <a:endCxn id="184" idx="2"/>
          </p:cNvCxnSpPr>
          <p:nvPr/>
        </p:nvCxnSpPr>
        <p:spPr>
          <a:xfrm flipV="1">
            <a:off x="34652363" y="8198718"/>
            <a:ext cx="1811747" cy="160665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15377845-E88F-98E4-CAF6-C2E5D47E39E0}"/>
              </a:ext>
            </a:extLst>
          </p:cNvPr>
          <p:cNvCxnSpPr>
            <a:cxnSpLocks/>
            <a:stCxn id="176" idx="6"/>
            <a:endCxn id="184" idx="2"/>
          </p:cNvCxnSpPr>
          <p:nvPr/>
        </p:nvCxnSpPr>
        <p:spPr>
          <a:xfrm flipV="1">
            <a:off x="34652363" y="8198718"/>
            <a:ext cx="1811747" cy="291747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2DF44781-ABC0-417C-1BDA-C125983FB535}"/>
              </a:ext>
            </a:extLst>
          </p:cNvPr>
          <p:cNvCxnSpPr>
            <a:cxnSpLocks/>
            <a:stCxn id="194" idx="6"/>
            <a:endCxn id="184" idx="2"/>
          </p:cNvCxnSpPr>
          <p:nvPr/>
        </p:nvCxnSpPr>
        <p:spPr>
          <a:xfrm flipV="1">
            <a:off x="34633313" y="8198718"/>
            <a:ext cx="1830797" cy="438432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FC3B4B53-42A5-307F-C47C-BC670CA21FF3}"/>
              </a:ext>
            </a:extLst>
          </p:cNvPr>
          <p:cNvCxnSpPr>
            <a:cxnSpLocks/>
            <a:stCxn id="175" idx="6"/>
            <a:endCxn id="184" idx="2"/>
          </p:cNvCxnSpPr>
          <p:nvPr/>
        </p:nvCxnSpPr>
        <p:spPr>
          <a:xfrm flipV="1">
            <a:off x="34624241" y="8198718"/>
            <a:ext cx="1839869" cy="57405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59008478-C9F1-A7D0-41A7-4986339D5F76}"/>
              </a:ext>
            </a:extLst>
          </p:cNvPr>
          <p:cNvCxnSpPr>
            <a:cxnSpLocks/>
            <a:stCxn id="173" idx="6"/>
            <a:endCxn id="192" idx="2"/>
          </p:cNvCxnSpPr>
          <p:nvPr/>
        </p:nvCxnSpPr>
        <p:spPr>
          <a:xfrm flipV="1">
            <a:off x="34649641" y="11348420"/>
            <a:ext cx="1819232" cy="387350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CDA69329-320E-4C57-E4F9-630C7D7EB223}"/>
              </a:ext>
            </a:extLst>
          </p:cNvPr>
          <p:cNvCxnSpPr>
            <a:cxnSpLocks/>
            <a:stCxn id="171" idx="6"/>
            <a:endCxn id="186" idx="2"/>
          </p:cNvCxnSpPr>
          <p:nvPr/>
        </p:nvCxnSpPr>
        <p:spPr>
          <a:xfrm flipV="1">
            <a:off x="34645671" y="12891470"/>
            <a:ext cx="1804152" cy="364400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FFC6023C-2CFA-FF61-A8A6-DEB8D850108A}"/>
              </a:ext>
            </a:extLst>
          </p:cNvPr>
          <p:cNvCxnSpPr>
            <a:cxnSpLocks/>
            <a:stCxn id="171" idx="6"/>
            <a:endCxn id="187" idx="2"/>
          </p:cNvCxnSpPr>
          <p:nvPr/>
        </p:nvCxnSpPr>
        <p:spPr>
          <a:xfrm flipV="1">
            <a:off x="34645671" y="14263070"/>
            <a:ext cx="1804152" cy="227240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796F25DA-A988-4290-87EC-DD13C3603632}"/>
              </a:ext>
            </a:extLst>
          </p:cNvPr>
          <p:cNvCxnSpPr>
            <a:cxnSpLocks/>
            <a:stCxn id="171" idx="6"/>
            <a:endCxn id="192" idx="2"/>
          </p:cNvCxnSpPr>
          <p:nvPr/>
        </p:nvCxnSpPr>
        <p:spPr>
          <a:xfrm flipV="1">
            <a:off x="34645671" y="11348420"/>
            <a:ext cx="1823202" cy="518705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3B3528B1-07C0-0AF3-75BE-E1D2AC1DA205}"/>
              </a:ext>
            </a:extLst>
          </p:cNvPr>
          <p:cNvCxnSpPr>
            <a:cxnSpLocks/>
            <a:stCxn id="173" idx="6"/>
            <a:endCxn id="186" idx="2"/>
          </p:cNvCxnSpPr>
          <p:nvPr/>
        </p:nvCxnSpPr>
        <p:spPr>
          <a:xfrm flipV="1">
            <a:off x="34649641" y="12891470"/>
            <a:ext cx="1800182" cy="233045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E3AB39E6-8CFD-8702-71AA-93CA56B86654}"/>
              </a:ext>
            </a:extLst>
          </p:cNvPr>
          <p:cNvCxnSpPr>
            <a:cxnSpLocks/>
            <a:stCxn id="173" idx="6"/>
            <a:endCxn id="187" idx="2"/>
          </p:cNvCxnSpPr>
          <p:nvPr/>
        </p:nvCxnSpPr>
        <p:spPr>
          <a:xfrm flipV="1">
            <a:off x="34649641" y="14263070"/>
            <a:ext cx="1800182" cy="95885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BC10E0A5-F91F-B984-9976-770E3C80C9BE}"/>
              </a:ext>
            </a:extLst>
          </p:cNvPr>
          <p:cNvCxnSpPr>
            <a:cxnSpLocks/>
            <a:stCxn id="173" idx="6"/>
            <a:endCxn id="185" idx="2"/>
          </p:cNvCxnSpPr>
          <p:nvPr/>
        </p:nvCxnSpPr>
        <p:spPr>
          <a:xfrm flipV="1">
            <a:off x="34649641" y="9767270"/>
            <a:ext cx="1819232" cy="545465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C102B977-9E93-56B3-C186-9D2C9E64726A}"/>
              </a:ext>
            </a:extLst>
          </p:cNvPr>
          <p:cNvCxnSpPr>
            <a:cxnSpLocks/>
            <a:stCxn id="173" idx="6"/>
            <a:endCxn id="184" idx="2"/>
          </p:cNvCxnSpPr>
          <p:nvPr/>
        </p:nvCxnSpPr>
        <p:spPr>
          <a:xfrm flipV="1">
            <a:off x="34649641" y="8198718"/>
            <a:ext cx="1814469" cy="702320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92E2DA1B-E74D-ACC7-411D-71B43D8D354D}"/>
              </a:ext>
            </a:extLst>
          </p:cNvPr>
          <p:cNvCxnSpPr>
            <a:cxnSpLocks/>
            <a:stCxn id="171" idx="6"/>
            <a:endCxn id="184" idx="2"/>
          </p:cNvCxnSpPr>
          <p:nvPr/>
        </p:nvCxnSpPr>
        <p:spPr>
          <a:xfrm flipV="1">
            <a:off x="34645671" y="8198718"/>
            <a:ext cx="1818439" cy="8336756"/>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92B02FF8-14C8-7378-13F0-F949F706506D}"/>
              </a:ext>
            </a:extLst>
          </p:cNvPr>
          <p:cNvCxnSpPr>
            <a:cxnSpLocks/>
            <a:stCxn id="171" idx="6"/>
            <a:endCxn id="185" idx="2"/>
          </p:cNvCxnSpPr>
          <p:nvPr/>
        </p:nvCxnSpPr>
        <p:spPr>
          <a:xfrm flipV="1">
            <a:off x="34645671" y="9767270"/>
            <a:ext cx="1823202" cy="676820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1A460C7C-D412-2E74-4EA9-14FD39D2C7C9}"/>
              </a:ext>
            </a:extLst>
          </p:cNvPr>
          <p:cNvCxnSpPr>
            <a:cxnSpLocks/>
            <a:stCxn id="175" idx="6"/>
            <a:endCxn id="185" idx="2"/>
          </p:cNvCxnSpPr>
          <p:nvPr/>
        </p:nvCxnSpPr>
        <p:spPr>
          <a:xfrm flipV="1">
            <a:off x="34624241" y="9767270"/>
            <a:ext cx="1844632" cy="417195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D8F789A5-BEB8-0DFC-1320-D4479FD823DD}"/>
              </a:ext>
            </a:extLst>
          </p:cNvPr>
          <p:cNvCxnSpPr>
            <a:cxnSpLocks/>
            <a:stCxn id="175" idx="6"/>
            <a:endCxn id="187" idx="2"/>
          </p:cNvCxnSpPr>
          <p:nvPr/>
        </p:nvCxnSpPr>
        <p:spPr>
          <a:xfrm>
            <a:off x="34624241" y="13939220"/>
            <a:ext cx="1825582" cy="32385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2FD2DE05-791B-4E18-8B25-E76D6D5EA09D}"/>
              </a:ext>
            </a:extLst>
          </p:cNvPr>
          <p:cNvCxnSpPr>
            <a:cxnSpLocks/>
            <a:stCxn id="175" idx="6"/>
            <a:endCxn id="186" idx="2"/>
          </p:cNvCxnSpPr>
          <p:nvPr/>
        </p:nvCxnSpPr>
        <p:spPr>
          <a:xfrm flipV="1">
            <a:off x="34624241" y="12891470"/>
            <a:ext cx="1825582" cy="104775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37895184-BC04-DC5C-9CF3-BC68FC4B831C}"/>
              </a:ext>
            </a:extLst>
          </p:cNvPr>
          <p:cNvCxnSpPr>
            <a:cxnSpLocks/>
            <a:stCxn id="175" idx="6"/>
            <a:endCxn id="192" idx="2"/>
          </p:cNvCxnSpPr>
          <p:nvPr/>
        </p:nvCxnSpPr>
        <p:spPr>
          <a:xfrm flipV="1">
            <a:off x="34624241" y="11348420"/>
            <a:ext cx="1844632" cy="259080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7B2F3543-78EF-7A42-F66B-BCE0CF045AF8}"/>
              </a:ext>
            </a:extLst>
          </p:cNvPr>
          <p:cNvCxnSpPr>
            <a:cxnSpLocks/>
            <a:stCxn id="194" idx="6"/>
            <a:endCxn id="187" idx="2"/>
          </p:cNvCxnSpPr>
          <p:nvPr/>
        </p:nvCxnSpPr>
        <p:spPr>
          <a:xfrm>
            <a:off x="34633313" y="12583042"/>
            <a:ext cx="1816510" cy="168002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7AEA4E7B-AE9A-D168-5434-0BD496F5446C}"/>
              </a:ext>
            </a:extLst>
          </p:cNvPr>
          <p:cNvCxnSpPr>
            <a:cxnSpLocks/>
            <a:stCxn id="194" idx="6"/>
            <a:endCxn id="186" idx="2"/>
          </p:cNvCxnSpPr>
          <p:nvPr/>
        </p:nvCxnSpPr>
        <p:spPr>
          <a:xfrm>
            <a:off x="34633313" y="12583042"/>
            <a:ext cx="1816510" cy="30842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4A5A7C29-B362-D90D-CA65-4B71E5B7BBF0}"/>
              </a:ext>
            </a:extLst>
          </p:cNvPr>
          <p:cNvCxnSpPr>
            <a:cxnSpLocks/>
            <a:stCxn id="194" idx="6"/>
            <a:endCxn id="192" idx="2"/>
          </p:cNvCxnSpPr>
          <p:nvPr/>
        </p:nvCxnSpPr>
        <p:spPr>
          <a:xfrm flipV="1">
            <a:off x="34633313" y="11348420"/>
            <a:ext cx="1835560" cy="123462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3CF50FE0-24AD-A96A-EB04-FF2521F8D27D}"/>
              </a:ext>
            </a:extLst>
          </p:cNvPr>
          <p:cNvCxnSpPr>
            <a:cxnSpLocks/>
            <a:stCxn id="194" idx="6"/>
            <a:endCxn id="185" idx="2"/>
          </p:cNvCxnSpPr>
          <p:nvPr/>
        </p:nvCxnSpPr>
        <p:spPr>
          <a:xfrm flipV="1">
            <a:off x="34633313" y="9767270"/>
            <a:ext cx="1835560" cy="281577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8A841C02-A85A-EFCE-74F1-F100E6322222}"/>
              </a:ext>
            </a:extLst>
          </p:cNvPr>
          <p:cNvCxnSpPr>
            <a:cxnSpLocks/>
            <a:stCxn id="176" idx="6"/>
            <a:endCxn id="185" idx="2"/>
          </p:cNvCxnSpPr>
          <p:nvPr/>
        </p:nvCxnSpPr>
        <p:spPr>
          <a:xfrm flipV="1">
            <a:off x="34652363" y="9767270"/>
            <a:ext cx="1816510" cy="1348922"/>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5B65D290-9660-EAE7-8BE5-079A9A4F0B2B}"/>
              </a:ext>
            </a:extLst>
          </p:cNvPr>
          <p:cNvCxnSpPr>
            <a:cxnSpLocks/>
            <a:stCxn id="176" idx="6"/>
            <a:endCxn id="192" idx="2"/>
          </p:cNvCxnSpPr>
          <p:nvPr/>
        </p:nvCxnSpPr>
        <p:spPr>
          <a:xfrm>
            <a:off x="34652363" y="11116192"/>
            <a:ext cx="1816510" cy="23222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23A47DCE-B302-AD85-0C11-CDA4830CE241}"/>
              </a:ext>
            </a:extLst>
          </p:cNvPr>
          <p:cNvCxnSpPr>
            <a:cxnSpLocks/>
            <a:stCxn id="177" idx="6"/>
            <a:endCxn id="185" idx="2"/>
          </p:cNvCxnSpPr>
          <p:nvPr/>
        </p:nvCxnSpPr>
        <p:spPr>
          <a:xfrm flipV="1">
            <a:off x="34652363" y="9767270"/>
            <a:ext cx="1816510" cy="3810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4EB26F15-373D-4ED3-3558-086E18152B9E}"/>
              </a:ext>
            </a:extLst>
          </p:cNvPr>
          <p:cNvCxnSpPr>
            <a:cxnSpLocks/>
            <a:stCxn id="177" idx="6"/>
            <a:endCxn id="192" idx="2"/>
          </p:cNvCxnSpPr>
          <p:nvPr/>
        </p:nvCxnSpPr>
        <p:spPr>
          <a:xfrm>
            <a:off x="34652363" y="9805370"/>
            <a:ext cx="1816510" cy="154305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078ED2DE-AA76-7851-4EE2-39E8C6F75AA6}"/>
              </a:ext>
            </a:extLst>
          </p:cNvPr>
          <p:cNvCxnSpPr>
            <a:cxnSpLocks/>
            <a:stCxn id="178" idx="6"/>
            <a:endCxn id="185" idx="2"/>
          </p:cNvCxnSpPr>
          <p:nvPr/>
        </p:nvCxnSpPr>
        <p:spPr>
          <a:xfrm>
            <a:off x="34645106" y="8501806"/>
            <a:ext cx="1823767" cy="126546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3B73BA45-F25A-AC5C-2DC8-0BB294CAB16E}"/>
              </a:ext>
            </a:extLst>
          </p:cNvPr>
          <p:cNvCxnSpPr>
            <a:cxnSpLocks/>
            <a:stCxn id="178" idx="6"/>
            <a:endCxn id="186" idx="2"/>
          </p:cNvCxnSpPr>
          <p:nvPr/>
        </p:nvCxnSpPr>
        <p:spPr>
          <a:xfrm>
            <a:off x="34645106" y="8501806"/>
            <a:ext cx="1804717" cy="438966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5ACB3D54-8B7F-E2DB-6112-670239313D36}"/>
              </a:ext>
            </a:extLst>
          </p:cNvPr>
          <p:cNvCxnSpPr>
            <a:cxnSpLocks/>
            <a:stCxn id="178" idx="6"/>
            <a:endCxn id="187" idx="2"/>
          </p:cNvCxnSpPr>
          <p:nvPr/>
        </p:nvCxnSpPr>
        <p:spPr>
          <a:xfrm>
            <a:off x="34645106" y="8501806"/>
            <a:ext cx="1804717" cy="5761264"/>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1C2B7BFD-F25E-C544-B2DF-53398C9F2CA5}"/>
              </a:ext>
            </a:extLst>
          </p:cNvPr>
          <p:cNvCxnSpPr>
            <a:cxnSpLocks/>
            <a:stCxn id="180" idx="6"/>
            <a:endCxn id="187" idx="2"/>
          </p:cNvCxnSpPr>
          <p:nvPr/>
        </p:nvCxnSpPr>
        <p:spPr>
          <a:xfrm>
            <a:off x="34649641" y="5871999"/>
            <a:ext cx="1800182" cy="8391071"/>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19" name="Straight Connector 418">
            <a:extLst>
              <a:ext uri="{FF2B5EF4-FFF2-40B4-BE49-F238E27FC236}">
                <a16:creationId xmlns:a16="http://schemas.microsoft.com/office/drawing/2014/main" id="{112C6025-B2D0-E196-66CF-16018952E02E}"/>
              </a:ext>
            </a:extLst>
          </p:cNvPr>
          <p:cNvCxnSpPr>
            <a:cxnSpLocks/>
            <a:stCxn id="179" idx="6"/>
            <a:endCxn id="186" idx="2"/>
          </p:cNvCxnSpPr>
          <p:nvPr/>
        </p:nvCxnSpPr>
        <p:spPr>
          <a:xfrm>
            <a:off x="34621520" y="7156512"/>
            <a:ext cx="1828303" cy="573495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26" name="Rectangle 425">
            <a:extLst>
              <a:ext uri="{FF2B5EF4-FFF2-40B4-BE49-F238E27FC236}">
                <a16:creationId xmlns:a16="http://schemas.microsoft.com/office/drawing/2014/main" id="{C5E887F6-D07B-C693-9E63-EEEC2E04A251}"/>
              </a:ext>
            </a:extLst>
          </p:cNvPr>
          <p:cNvSpPr/>
          <p:nvPr/>
        </p:nvSpPr>
        <p:spPr>
          <a:xfrm rot="5400000">
            <a:off x="29813450" y="7463997"/>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8" name="Rectangle 427">
            <a:extLst>
              <a:ext uri="{FF2B5EF4-FFF2-40B4-BE49-F238E27FC236}">
                <a16:creationId xmlns:a16="http://schemas.microsoft.com/office/drawing/2014/main" id="{A82293AB-2D7F-A0F1-C992-7A4C4F4B62F9}"/>
              </a:ext>
            </a:extLst>
          </p:cNvPr>
          <p:cNvSpPr/>
          <p:nvPr/>
        </p:nvSpPr>
        <p:spPr>
          <a:xfrm rot="5400000">
            <a:off x="29813450" y="8236476"/>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C81A34D8-8D45-BDD7-01E3-3827D3382027}"/>
              </a:ext>
            </a:extLst>
          </p:cNvPr>
          <p:cNvSpPr/>
          <p:nvPr/>
        </p:nvSpPr>
        <p:spPr>
          <a:xfrm rot="5400000">
            <a:off x="29816308" y="9008954"/>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BB45B4BE-32D0-E42E-63DC-DD7D26485354}"/>
              </a:ext>
            </a:extLst>
          </p:cNvPr>
          <p:cNvSpPr/>
          <p:nvPr/>
        </p:nvSpPr>
        <p:spPr>
          <a:xfrm rot="5400000">
            <a:off x="29813450" y="11324799"/>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F5661ED4-C5A2-9DE6-A3B4-7071D827B0BD}"/>
              </a:ext>
            </a:extLst>
          </p:cNvPr>
          <p:cNvSpPr/>
          <p:nvPr/>
        </p:nvSpPr>
        <p:spPr>
          <a:xfrm rot="5400000">
            <a:off x="29815672" y="10554543"/>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C53C0275-C380-8E76-E341-4BF3AC864D56}"/>
              </a:ext>
            </a:extLst>
          </p:cNvPr>
          <p:cNvSpPr/>
          <p:nvPr/>
        </p:nvSpPr>
        <p:spPr>
          <a:xfrm rot="5400000">
            <a:off x="29815355" y="9776668"/>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6D56B4FD-F31A-EDB5-FB71-9705AA63187A}"/>
              </a:ext>
            </a:extLst>
          </p:cNvPr>
          <p:cNvSpPr/>
          <p:nvPr/>
        </p:nvSpPr>
        <p:spPr>
          <a:xfrm rot="5400000">
            <a:off x="29813450" y="12090610"/>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A709A1EA-4F75-4FC6-AF69-8191B79B5DCF}"/>
              </a:ext>
            </a:extLst>
          </p:cNvPr>
          <p:cNvSpPr/>
          <p:nvPr/>
        </p:nvSpPr>
        <p:spPr>
          <a:xfrm rot="5400000">
            <a:off x="29813450" y="12867848"/>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9F4264F5-BE7E-C3DE-B0FD-6A773AB959E8}"/>
              </a:ext>
            </a:extLst>
          </p:cNvPr>
          <p:cNvSpPr/>
          <p:nvPr/>
        </p:nvSpPr>
        <p:spPr>
          <a:xfrm rot="5400000">
            <a:off x="29812498" y="13637469"/>
            <a:ext cx="767678" cy="9214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7" name="Straight Connector 436">
            <a:extLst>
              <a:ext uri="{FF2B5EF4-FFF2-40B4-BE49-F238E27FC236}">
                <a16:creationId xmlns:a16="http://schemas.microsoft.com/office/drawing/2014/main" id="{B44C1595-B444-8B41-78D2-A1324984BA17}"/>
              </a:ext>
            </a:extLst>
          </p:cNvPr>
          <p:cNvCxnSpPr>
            <a:stCxn id="426" idx="0"/>
            <a:endCxn id="180" idx="2"/>
          </p:cNvCxnSpPr>
          <p:nvPr/>
        </p:nvCxnSpPr>
        <p:spPr>
          <a:xfrm flipV="1">
            <a:off x="30658030" y="5871999"/>
            <a:ext cx="3141121" cy="2052739"/>
          </a:xfrm>
          <a:prstGeom prst="line">
            <a:avLst/>
          </a:prstGeom>
        </p:spPr>
        <p:style>
          <a:lnRef idx="1">
            <a:schemeClr val="dk1"/>
          </a:lnRef>
          <a:fillRef idx="0">
            <a:schemeClr val="dk1"/>
          </a:fillRef>
          <a:effectRef idx="0">
            <a:schemeClr val="dk1"/>
          </a:effectRef>
          <a:fontRef idx="minor">
            <a:schemeClr val="tx1"/>
          </a:fontRef>
        </p:style>
      </p:cxnSp>
      <p:cxnSp>
        <p:nvCxnSpPr>
          <p:cNvPr id="438" name="Straight Connector 437">
            <a:extLst>
              <a:ext uri="{FF2B5EF4-FFF2-40B4-BE49-F238E27FC236}">
                <a16:creationId xmlns:a16="http://schemas.microsoft.com/office/drawing/2014/main" id="{C5A93F36-B422-4FBE-1324-2474A0EDEC2E}"/>
              </a:ext>
            </a:extLst>
          </p:cNvPr>
          <p:cNvCxnSpPr>
            <a:cxnSpLocks/>
            <a:stCxn id="428" idx="0"/>
            <a:endCxn id="179" idx="2"/>
          </p:cNvCxnSpPr>
          <p:nvPr/>
        </p:nvCxnSpPr>
        <p:spPr>
          <a:xfrm flipV="1">
            <a:off x="30658030" y="7156512"/>
            <a:ext cx="3113000" cy="1540705"/>
          </a:xfrm>
          <a:prstGeom prst="line">
            <a:avLst/>
          </a:prstGeom>
        </p:spPr>
        <p:style>
          <a:lnRef idx="1">
            <a:schemeClr val="dk1"/>
          </a:lnRef>
          <a:fillRef idx="0">
            <a:schemeClr val="dk1"/>
          </a:fillRef>
          <a:effectRef idx="0">
            <a:schemeClr val="dk1"/>
          </a:effectRef>
          <a:fontRef idx="minor">
            <a:schemeClr val="tx1"/>
          </a:fontRef>
        </p:style>
      </p:cxnSp>
      <p:cxnSp>
        <p:nvCxnSpPr>
          <p:cNvPr id="440" name="Straight Connector 439">
            <a:extLst>
              <a:ext uri="{FF2B5EF4-FFF2-40B4-BE49-F238E27FC236}">
                <a16:creationId xmlns:a16="http://schemas.microsoft.com/office/drawing/2014/main" id="{0973D396-075A-C1C3-4248-4319699858B8}"/>
              </a:ext>
            </a:extLst>
          </p:cNvPr>
          <p:cNvCxnSpPr>
            <a:cxnSpLocks/>
            <a:stCxn id="429" idx="0"/>
            <a:endCxn id="178" idx="2"/>
          </p:cNvCxnSpPr>
          <p:nvPr/>
        </p:nvCxnSpPr>
        <p:spPr>
          <a:xfrm flipV="1">
            <a:off x="30660888" y="8501806"/>
            <a:ext cx="3133728" cy="967889"/>
          </a:xfrm>
          <a:prstGeom prst="line">
            <a:avLst/>
          </a:prstGeom>
        </p:spPr>
        <p:style>
          <a:lnRef idx="1">
            <a:schemeClr val="dk1"/>
          </a:lnRef>
          <a:fillRef idx="0">
            <a:schemeClr val="dk1"/>
          </a:fillRef>
          <a:effectRef idx="0">
            <a:schemeClr val="dk1"/>
          </a:effectRef>
          <a:fontRef idx="minor">
            <a:schemeClr val="tx1"/>
          </a:fontRef>
        </p:style>
      </p:cxnSp>
      <p:cxnSp>
        <p:nvCxnSpPr>
          <p:cNvPr id="446" name="Straight Connector 445">
            <a:extLst>
              <a:ext uri="{FF2B5EF4-FFF2-40B4-BE49-F238E27FC236}">
                <a16:creationId xmlns:a16="http://schemas.microsoft.com/office/drawing/2014/main" id="{6265E8FC-DC7E-B191-3A4B-11F09CC02C65}"/>
              </a:ext>
            </a:extLst>
          </p:cNvPr>
          <p:cNvCxnSpPr>
            <a:cxnSpLocks/>
            <a:stCxn id="432" idx="0"/>
            <a:endCxn id="177" idx="2"/>
          </p:cNvCxnSpPr>
          <p:nvPr/>
        </p:nvCxnSpPr>
        <p:spPr>
          <a:xfrm flipV="1">
            <a:off x="30659935" y="9805370"/>
            <a:ext cx="3141938" cy="432039"/>
          </a:xfrm>
          <a:prstGeom prst="line">
            <a:avLst/>
          </a:prstGeom>
        </p:spPr>
        <p:style>
          <a:lnRef idx="1">
            <a:schemeClr val="dk1"/>
          </a:lnRef>
          <a:fillRef idx="0">
            <a:schemeClr val="dk1"/>
          </a:fillRef>
          <a:effectRef idx="0">
            <a:schemeClr val="dk1"/>
          </a:effectRef>
          <a:fontRef idx="minor">
            <a:schemeClr val="tx1"/>
          </a:fontRef>
        </p:style>
      </p:cxnSp>
      <p:cxnSp>
        <p:nvCxnSpPr>
          <p:cNvPr id="449" name="Straight Connector 448">
            <a:extLst>
              <a:ext uri="{FF2B5EF4-FFF2-40B4-BE49-F238E27FC236}">
                <a16:creationId xmlns:a16="http://schemas.microsoft.com/office/drawing/2014/main" id="{37DF790A-7B6F-755B-CBD6-209F6758C0CB}"/>
              </a:ext>
            </a:extLst>
          </p:cNvPr>
          <p:cNvCxnSpPr>
            <a:cxnSpLocks/>
            <a:stCxn id="431" idx="0"/>
            <a:endCxn id="176" idx="2"/>
          </p:cNvCxnSpPr>
          <p:nvPr/>
        </p:nvCxnSpPr>
        <p:spPr>
          <a:xfrm>
            <a:off x="30660252" y="11015284"/>
            <a:ext cx="3141621" cy="100908"/>
          </a:xfrm>
          <a:prstGeom prst="line">
            <a:avLst/>
          </a:prstGeom>
        </p:spPr>
        <p:style>
          <a:lnRef idx="1">
            <a:schemeClr val="dk1"/>
          </a:lnRef>
          <a:fillRef idx="0">
            <a:schemeClr val="dk1"/>
          </a:fillRef>
          <a:effectRef idx="0">
            <a:schemeClr val="dk1"/>
          </a:effectRef>
          <a:fontRef idx="minor">
            <a:schemeClr val="tx1"/>
          </a:fontRef>
        </p:style>
      </p:cxnSp>
      <p:cxnSp>
        <p:nvCxnSpPr>
          <p:cNvPr id="452" name="Straight Connector 451">
            <a:extLst>
              <a:ext uri="{FF2B5EF4-FFF2-40B4-BE49-F238E27FC236}">
                <a16:creationId xmlns:a16="http://schemas.microsoft.com/office/drawing/2014/main" id="{B84DE27F-957B-5F77-719F-38E6E3697791}"/>
              </a:ext>
            </a:extLst>
          </p:cNvPr>
          <p:cNvCxnSpPr>
            <a:cxnSpLocks/>
            <a:stCxn id="430" idx="0"/>
            <a:endCxn id="194" idx="2"/>
          </p:cNvCxnSpPr>
          <p:nvPr/>
        </p:nvCxnSpPr>
        <p:spPr>
          <a:xfrm>
            <a:off x="30658030" y="11785540"/>
            <a:ext cx="3124793" cy="797502"/>
          </a:xfrm>
          <a:prstGeom prst="line">
            <a:avLst/>
          </a:prstGeom>
        </p:spPr>
        <p:style>
          <a:lnRef idx="1">
            <a:schemeClr val="dk1"/>
          </a:lnRef>
          <a:fillRef idx="0">
            <a:schemeClr val="dk1"/>
          </a:fillRef>
          <a:effectRef idx="0">
            <a:schemeClr val="dk1"/>
          </a:effectRef>
          <a:fontRef idx="minor">
            <a:schemeClr val="tx1"/>
          </a:fontRef>
        </p:style>
      </p:cxnSp>
      <p:cxnSp>
        <p:nvCxnSpPr>
          <p:cNvPr id="455" name="Straight Connector 454">
            <a:extLst>
              <a:ext uri="{FF2B5EF4-FFF2-40B4-BE49-F238E27FC236}">
                <a16:creationId xmlns:a16="http://schemas.microsoft.com/office/drawing/2014/main" id="{24E52C9D-B706-2053-6852-DABF171C29F1}"/>
              </a:ext>
            </a:extLst>
          </p:cNvPr>
          <p:cNvCxnSpPr>
            <a:cxnSpLocks/>
            <a:stCxn id="433" idx="0"/>
            <a:endCxn id="175" idx="2"/>
          </p:cNvCxnSpPr>
          <p:nvPr/>
        </p:nvCxnSpPr>
        <p:spPr>
          <a:xfrm>
            <a:off x="30658030" y="12551351"/>
            <a:ext cx="3115721" cy="1387869"/>
          </a:xfrm>
          <a:prstGeom prst="line">
            <a:avLst/>
          </a:prstGeom>
        </p:spPr>
        <p:style>
          <a:lnRef idx="1">
            <a:schemeClr val="dk1"/>
          </a:lnRef>
          <a:fillRef idx="0">
            <a:schemeClr val="dk1"/>
          </a:fillRef>
          <a:effectRef idx="0">
            <a:schemeClr val="dk1"/>
          </a:effectRef>
          <a:fontRef idx="minor">
            <a:schemeClr val="tx1"/>
          </a:fontRef>
        </p:style>
      </p:cxnSp>
      <p:cxnSp>
        <p:nvCxnSpPr>
          <p:cNvPr id="458" name="Straight Connector 457">
            <a:extLst>
              <a:ext uri="{FF2B5EF4-FFF2-40B4-BE49-F238E27FC236}">
                <a16:creationId xmlns:a16="http://schemas.microsoft.com/office/drawing/2014/main" id="{D0BF2A46-4640-E841-E987-A8F27FBFD7A9}"/>
              </a:ext>
            </a:extLst>
          </p:cNvPr>
          <p:cNvCxnSpPr>
            <a:cxnSpLocks/>
            <a:stCxn id="434" idx="0"/>
            <a:endCxn id="173" idx="2"/>
          </p:cNvCxnSpPr>
          <p:nvPr/>
        </p:nvCxnSpPr>
        <p:spPr>
          <a:xfrm>
            <a:off x="30658030" y="13328589"/>
            <a:ext cx="3141121" cy="1893331"/>
          </a:xfrm>
          <a:prstGeom prst="line">
            <a:avLst/>
          </a:prstGeom>
        </p:spPr>
        <p:style>
          <a:lnRef idx="1">
            <a:schemeClr val="dk1"/>
          </a:lnRef>
          <a:fillRef idx="0">
            <a:schemeClr val="dk1"/>
          </a:fillRef>
          <a:effectRef idx="0">
            <a:schemeClr val="dk1"/>
          </a:effectRef>
          <a:fontRef idx="minor">
            <a:schemeClr val="tx1"/>
          </a:fontRef>
        </p:style>
      </p:cxnSp>
      <p:cxnSp>
        <p:nvCxnSpPr>
          <p:cNvPr id="461" name="Straight Connector 460">
            <a:extLst>
              <a:ext uri="{FF2B5EF4-FFF2-40B4-BE49-F238E27FC236}">
                <a16:creationId xmlns:a16="http://schemas.microsoft.com/office/drawing/2014/main" id="{17A62C69-808E-1B71-A2EB-B901564689BF}"/>
              </a:ext>
            </a:extLst>
          </p:cNvPr>
          <p:cNvCxnSpPr>
            <a:cxnSpLocks/>
            <a:stCxn id="435" idx="0"/>
            <a:endCxn id="171" idx="2"/>
          </p:cNvCxnSpPr>
          <p:nvPr/>
        </p:nvCxnSpPr>
        <p:spPr>
          <a:xfrm>
            <a:off x="30657078" y="14098210"/>
            <a:ext cx="3129373" cy="2437264"/>
          </a:xfrm>
          <a:prstGeom prst="line">
            <a:avLst/>
          </a:prstGeom>
        </p:spPr>
        <p:style>
          <a:lnRef idx="1">
            <a:schemeClr val="dk1"/>
          </a:lnRef>
          <a:fillRef idx="0">
            <a:schemeClr val="dk1"/>
          </a:fillRef>
          <a:effectRef idx="0">
            <a:schemeClr val="dk1"/>
          </a:effectRef>
          <a:fontRef idx="minor">
            <a:schemeClr val="tx1"/>
          </a:fontRef>
        </p:style>
      </p:cxnSp>
      <p:cxnSp>
        <p:nvCxnSpPr>
          <p:cNvPr id="465" name="Straight Connector 464">
            <a:extLst>
              <a:ext uri="{FF2B5EF4-FFF2-40B4-BE49-F238E27FC236}">
                <a16:creationId xmlns:a16="http://schemas.microsoft.com/office/drawing/2014/main" id="{2B7AFF95-EFBC-9FF7-79ED-EC5F650854A5}"/>
              </a:ext>
            </a:extLst>
          </p:cNvPr>
          <p:cNvCxnSpPr>
            <a:cxnSpLocks/>
            <a:endCxn id="435" idx="2"/>
          </p:cNvCxnSpPr>
          <p:nvPr/>
        </p:nvCxnSpPr>
        <p:spPr>
          <a:xfrm>
            <a:off x="23181540" y="12983442"/>
            <a:ext cx="6554057" cy="1114768"/>
          </a:xfrm>
          <a:prstGeom prst="line">
            <a:avLst/>
          </a:prstGeom>
        </p:spPr>
        <p:style>
          <a:lnRef idx="1">
            <a:schemeClr val="dk1"/>
          </a:lnRef>
          <a:fillRef idx="0">
            <a:schemeClr val="dk1"/>
          </a:fillRef>
          <a:effectRef idx="0">
            <a:schemeClr val="dk1"/>
          </a:effectRef>
          <a:fontRef idx="minor">
            <a:schemeClr val="tx1"/>
          </a:fontRef>
        </p:style>
      </p:cxnSp>
      <p:cxnSp>
        <p:nvCxnSpPr>
          <p:cNvPr id="469" name="Straight Connector 468">
            <a:extLst>
              <a:ext uri="{FF2B5EF4-FFF2-40B4-BE49-F238E27FC236}">
                <a16:creationId xmlns:a16="http://schemas.microsoft.com/office/drawing/2014/main" id="{7045A64E-98ED-FCC4-E988-E72F28F7F6CA}"/>
              </a:ext>
            </a:extLst>
          </p:cNvPr>
          <p:cNvCxnSpPr>
            <a:cxnSpLocks/>
            <a:endCxn id="435" idx="2"/>
          </p:cNvCxnSpPr>
          <p:nvPr/>
        </p:nvCxnSpPr>
        <p:spPr>
          <a:xfrm>
            <a:off x="26337490" y="12976298"/>
            <a:ext cx="3398107" cy="1121912"/>
          </a:xfrm>
          <a:prstGeom prst="line">
            <a:avLst/>
          </a:prstGeom>
        </p:spPr>
        <p:style>
          <a:lnRef idx="1">
            <a:schemeClr val="dk1"/>
          </a:lnRef>
          <a:fillRef idx="0">
            <a:schemeClr val="dk1"/>
          </a:fillRef>
          <a:effectRef idx="0">
            <a:schemeClr val="dk1"/>
          </a:effectRef>
          <a:fontRef idx="minor">
            <a:schemeClr val="tx1"/>
          </a:fontRef>
        </p:style>
      </p:cxnSp>
      <p:cxnSp>
        <p:nvCxnSpPr>
          <p:cNvPr id="474" name="Straight Connector 473">
            <a:extLst>
              <a:ext uri="{FF2B5EF4-FFF2-40B4-BE49-F238E27FC236}">
                <a16:creationId xmlns:a16="http://schemas.microsoft.com/office/drawing/2014/main" id="{4A0E6B32-75B6-E813-9D91-7610C84353E0}"/>
              </a:ext>
            </a:extLst>
          </p:cNvPr>
          <p:cNvCxnSpPr>
            <a:cxnSpLocks/>
            <a:endCxn id="426" idx="2"/>
          </p:cNvCxnSpPr>
          <p:nvPr/>
        </p:nvCxnSpPr>
        <p:spPr>
          <a:xfrm flipV="1">
            <a:off x="24656328" y="7924738"/>
            <a:ext cx="5080221" cy="1134404"/>
          </a:xfrm>
          <a:prstGeom prst="line">
            <a:avLst/>
          </a:prstGeom>
        </p:spPr>
        <p:style>
          <a:lnRef idx="1">
            <a:schemeClr val="dk1"/>
          </a:lnRef>
          <a:fillRef idx="0">
            <a:schemeClr val="dk1"/>
          </a:fillRef>
          <a:effectRef idx="0">
            <a:schemeClr val="dk1"/>
          </a:effectRef>
          <a:fontRef idx="minor">
            <a:schemeClr val="tx1"/>
          </a:fontRef>
        </p:style>
      </p:cxnSp>
      <p:cxnSp>
        <p:nvCxnSpPr>
          <p:cNvPr id="478" name="Straight Connector 477">
            <a:extLst>
              <a:ext uri="{FF2B5EF4-FFF2-40B4-BE49-F238E27FC236}">
                <a16:creationId xmlns:a16="http://schemas.microsoft.com/office/drawing/2014/main" id="{EECDA178-6762-B16D-2077-2A6351825D75}"/>
              </a:ext>
            </a:extLst>
          </p:cNvPr>
          <p:cNvCxnSpPr>
            <a:cxnSpLocks/>
            <a:endCxn id="426" idx="2"/>
          </p:cNvCxnSpPr>
          <p:nvPr/>
        </p:nvCxnSpPr>
        <p:spPr>
          <a:xfrm flipV="1">
            <a:off x="21496409" y="7924738"/>
            <a:ext cx="8240140" cy="1127260"/>
          </a:xfrm>
          <a:prstGeom prst="line">
            <a:avLst/>
          </a:prstGeom>
        </p:spPr>
        <p:style>
          <a:lnRef idx="1">
            <a:schemeClr val="dk1"/>
          </a:lnRef>
          <a:fillRef idx="0">
            <a:schemeClr val="dk1"/>
          </a:fillRef>
          <a:effectRef idx="0">
            <a:schemeClr val="dk1"/>
          </a:effectRef>
          <a:fontRef idx="minor">
            <a:schemeClr val="tx1"/>
          </a:fontRef>
        </p:style>
      </p:cxnSp>
      <p:sp>
        <p:nvSpPr>
          <p:cNvPr id="482" name="TextBox 481">
            <a:extLst>
              <a:ext uri="{FF2B5EF4-FFF2-40B4-BE49-F238E27FC236}">
                <a16:creationId xmlns:a16="http://schemas.microsoft.com/office/drawing/2014/main" id="{E56E2834-0FEA-3DCF-FF29-33CEED345279}"/>
              </a:ext>
            </a:extLst>
          </p:cNvPr>
          <p:cNvSpPr txBox="1"/>
          <p:nvPr/>
        </p:nvSpPr>
        <p:spPr>
          <a:xfrm>
            <a:off x="3477490" y="15021792"/>
            <a:ext cx="3581400" cy="1257300"/>
          </a:xfrm>
          <a:prstGeom prst="rect">
            <a:avLst/>
          </a:prstGeom>
          <a:noFill/>
        </p:spPr>
        <p:txBody>
          <a:bodyPr wrap="square" rtlCol="0">
            <a:spAutoFit/>
          </a:bodyPr>
          <a:lstStyle/>
          <a:p>
            <a:r>
              <a:rPr lang="en-US" dirty="0"/>
              <a:t>Input</a:t>
            </a:r>
          </a:p>
        </p:txBody>
      </p:sp>
      <p:sp>
        <p:nvSpPr>
          <p:cNvPr id="483" name="TextBox 482">
            <a:extLst>
              <a:ext uri="{FF2B5EF4-FFF2-40B4-BE49-F238E27FC236}">
                <a16:creationId xmlns:a16="http://schemas.microsoft.com/office/drawing/2014/main" id="{1561F057-F4E8-2F7E-8A7A-1EBB9E8B7D00}"/>
              </a:ext>
            </a:extLst>
          </p:cNvPr>
          <p:cNvSpPr txBox="1"/>
          <p:nvPr/>
        </p:nvSpPr>
        <p:spPr>
          <a:xfrm>
            <a:off x="9497290" y="14755092"/>
            <a:ext cx="11125200" cy="3443058"/>
          </a:xfrm>
          <a:prstGeom prst="rect">
            <a:avLst/>
          </a:prstGeom>
          <a:noFill/>
        </p:spPr>
        <p:txBody>
          <a:bodyPr wrap="square" rtlCol="0">
            <a:spAutoFit/>
          </a:bodyPr>
          <a:lstStyle/>
          <a:p>
            <a:pPr algn="ctr"/>
            <a:r>
              <a:rPr lang="en-US" dirty="0"/>
              <a:t>Convolution +</a:t>
            </a:r>
          </a:p>
          <a:p>
            <a:pPr algn="ctr"/>
            <a:r>
              <a:rPr lang="en-US" dirty="0"/>
              <a:t>Batch Normalization +</a:t>
            </a:r>
          </a:p>
          <a:p>
            <a:pPr algn="ctr"/>
            <a:r>
              <a:rPr lang="en-US" dirty="0" err="1"/>
              <a:t>ReLU</a:t>
            </a:r>
            <a:endParaRPr lang="en-US" dirty="0"/>
          </a:p>
        </p:txBody>
      </p:sp>
      <p:sp>
        <p:nvSpPr>
          <p:cNvPr id="484" name="TextBox 483">
            <a:extLst>
              <a:ext uri="{FF2B5EF4-FFF2-40B4-BE49-F238E27FC236}">
                <a16:creationId xmlns:a16="http://schemas.microsoft.com/office/drawing/2014/main" id="{EA917B6D-DBAE-CFE7-62DC-F7DC543983E7}"/>
              </a:ext>
            </a:extLst>
          </p:cNvPr>
          <p:cNvSpPr txBox="1"/>
          <p:nvPr/>
        </p:nvSpPr>
        <p:spPr>
          <a:xfrm>
            <a:off x="20279590" y="14755092"/>
            <a:ext cx="8191500" cy="2326150"/>
          </a:xfrm>
          <a:prstGeom prst="rect">
            <a:avLst/>
          </a:prstGeom>
          <a:noFill/>
        </p:spPr>
        <p:txBody>
          <a:bodyPr wrap="square" rtlCol="0">
            <a:spAutoFit/>
          </a:bodyPr>
          <a:lstStyle/>
          <a:p>
            <a:pPr algn="ctr"/>
            <a:r>
              <a:rPr lang="en-US" dirty="0"/>
              <a:t>Average Pooling +</a:t>
            </a:r>
          </a:p>
          <a:p>
            <a:pPr algn="ctr"/>
            <a:r>
              <a:rPr lang="en-US" dirty="0"/>
              <a:t>Dropout</a:t>
            </a:r>
          </a:p>
        </p:txBody>
      </p:sp>
      <p:sp>
        <p:nvSpPr>
          <p:cNvPr id="485" name="TextBox 484">
            <a:extLst>
              <a:ext uri="{FF2B5EF4-FFF2-40B4-BE49-F238E27FC236}">
                <a16:creationId xmlns:a16="http://schemas.microsoft.com/office/drawing/2014/main" id="{1FD8759E-3F7C-97F1-796F-F1191B84B80D}"/>
              </a:ext>
            </a:extLst>
          </p:cNvPr>
          <p:cNvSpPr txBox="1"/>
          <p:nvPr/>
        </p:nvSpPr>
        <p:spPr>
          <a:xfrm>
            <a:off x="29156890" y="15059892"/>
            <a:ext cx="3505200" cy="2326150"/>
          </a:xfrm>
          <a:prstGeom prst="rect">
            <a:avLst/>
          </a:prstGeom>
          <a:noFill/>
        </p:spPr>
        <p:txBody>
          <a:bodyPr wrap="square" rtlCol="0">
            <a:spAutoFit/>
          </a:bodyPr>
          <a:lstStyle/>
          <a:p>
            <a:r>
              <a:rPr lang="en-US" dirty="0"/>
              <a:t>Flatten Layer</a:t>
            </a:r>
          </a:p>
        </p:txBody>
      </p:sp>
      <p:sp>
        <p:nvSpPr>
          <p:cNvPr id="486" name="Left Brace 485">
            <a:extLst>
              <a:ext uri="{FF2B5EF4-FFF2-40B4-BE49-F238E27FC236}">
                <a16:creationId xmlns:a16="http://schemas.microsoft.com/office/drawing/2014/main" id="{4E812BDD-3305-9928-8AF0-2FB993DA264F}"/>
              </a:ext>
            </a:extLst>
          </p:cNvPr>
          <p:cNvSpPr/>
          <p:nvPr/>
        </p:nvSpPr>
        <p:spPr>
          <a:xfrm rot="16200000">
            <a:off x="34406031" y="17635105"/>
            <a:ext cx="1600200" cy="3924300"/>
          </a:xfrm>
          <a:prstGeom prst="leftBrace">
            <a:avLst>
              <a:gd name="adj1" fmla="val 10659"/>
              <a:gd name="adj2" fmla="val 51724"/>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87" name="TextBox 486">
            <a:extLst>
              <a:ext uri="{FF2B5EF4-FFF2-40B4-BE49-F238E27FC236}">
                <a16:creationId xmlns:a16="http://schemas.microsoft.com/office/drawing/2014/main" id="{92CADB68-D24B-A42D-C6B8-64D927D8997D}"/>
              </a:ext>
            </a:extLst>
          </p:cNvPr>
          <p:cNvSpPr txBox="1"/>
          <p:nvPr/>
        </p:nvSpPr>
        <p:spPr>
          <a:xfrm>
            <a:off x="29506716" y="20130656"/>
            <a:ext cx="11142519" cy="1209242"/>
          </a:xfrm>
          <a:prstGeom prst="rect">
            <a:avLst/>
          </a:prstGeom>
          <a:noFill/>
        </p:spPr>
        <p:txBody>
          <a:bodyPr wrap="square" rtlCol="0">
            <a:spAutoFit/>
          </a:bodyPr>
          <a:lstStyle/>
          <a:p>
            <a:pPr algn="ctr"/>
            <a:r>
              <a:rPr lang="en-US" dirty="0"/>
              <a:t>Fully Connected Layer</a:t>
            </a:r>
          </a:p>
        </p:txBody>
      </p:sp>
      <p:sp>
        <p:nvSpPr>
          <p:cNvPr id="489" name="Left Brace 488">
            <a:extLst>
              <a:ext uri="{FF2B5EF4-FFF2-40B4-BE49-F238E27FC236}">
                <a16:creationId xmlns:a16="http://schemas.microsoft.com/office/drawing/2014/main" id="{C686E1AF-E5EC-F2D9-3628-E60EC1116F2D}"/>
              </a:ext>
            </a:extLst>
          </p:cNvPr>
          <p:cNvSpPr/>
          <p:nvPr/>
        </p:nvSpPr>
        <p:spPr>
          <a:xfrm rot="16200000">
            <a:off x="14717912" y="8197506"/>
            <a:ext cx="1409700" cy="28119644"/>
          </a:xfrm>
          <a:prstGeom prst="leftBrace">
            <a:avLst>
              <a:gd name="adj1" fmla="val 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90" name="TextBox 489">
            <a:extLst>
              <a:ext uri="{FF2B5EF4-FFF2-40B4-BE49-F238E27FC236}">
                <a16:creationId xmlns:a16="http://schemas.microsoft.com/office/drawing/2014/main" id="{2949B36C-C4A4-6582-766A-15FFB472606A}"/>
              </a:ext>
            </a:extLst>
          </p:cNvPr>
          <p:cNvSpPr txBox="1"/>
          <p:nvPr/>
        </p:nvSpPr>
        <p:spPr>
          <a:xfrm>
            <a:off x="12659590" y="23060892"/>
            <a:ext cx="7810500" cy="1209242"/>
          </a:xfrm>
          <a:prstGeom prst="rect">
            <a:avLst/>
          </a:prstGeom>
          <a:noFill/>
        </p:spPr>
        <p:txBody>
          <a:bodyPr wrap="square" rtlCol="0">
            <a:spAutoFit/>
          </a:bodyPr>
          <a:lstStyle/>
          <a:p>
            <a:r>
              <a:rPr lang="en-US" dirty="0"/>
              <a:t>Feature Extraction</a:t>
            </a:r>
          </a:p>
        </p:txBody>
      </p:sp>
      <p:sp>
        <p:nvSpPr>
          <p:cNvPr id="491" name="Left Brace 490">
            <a:extLst>
              <a:ext uri="{FF2B5EF4-FFF2-40B4-BE49-F238E27FC236}">
                <a16:creationId xmlns:a16="http://schemas.microsoft.com/office/drawing/2014/main" id="{B87D8FE2-F569-7834-1F47-01215E31A674}"/>
              </a:ext>
            </a:extLst>
          </p:cNvPr>
          <p:cNvSpPr/>
          <p:nvPr/>
        </p:nvSpPr>
        <p:spPr>
          <a:xfrm rot="16200000">
            <a:off x="35039010" y="17109498"/>
            <a:ext cx="1409700" cy="10267951"/>
          </a:xfrm>
          <a:prstGeom prst="leftBrace">
            <a:avLst>
              <a:gd name="adj1" fmla="val 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92" name="TextBox 491">
            <a:extLst>
              <a:ext uri="{FF2B5EF4-FFF2-40B4-BE49-F238E27FC236}">
                <a16:creationId xmlns:a16="http://schemas.microsoft.com/office/drawing/2014/main" id="{9B0B7F97-D28D-4BE0-AE45-26AA57E73DB8}"/>
              </a:ext>
            </a:extLst>
          </p:cNvPr>
          <p:cNvSpPr txBox="1"/>
          <p:nvPr/>
        </p:nvSpPr>
        <p:spPr>
          <a:xfrm>
            <a:off x="33063258" y="22872068"/>
            <a:ext cx="6170468" cy="1209242"/>
          </a:xfrm>
          <a:prstGeom prst="rect">
            <a:avLst/>
          </a:prstGeom>
          <a:noFill/>
        </p:spPr>
        <p:txBody>
          <a:bodyPr wrap="square" rtlCol="0">
            <a:spAutoFit/>
          </a:bodyPr>
          <a:lstStyle/>
          <a:p>
            <a:r>
              <a:rPr lang="en-US" dirty="0"/>
              <a:t>Classification</a:t>
            </a:r>
          </a:p>
        </p:txBody>
      </p:sp>
      <p:sp>
        <p:nvSpPr>
          <p:cNvPr id="499" name="Left Brace 498">
            <a:extLst>
              <a:ext uri="{FF2B5EF4-FFF2-40B4-BE49-F238E27FC236}">
                <a16:creationId xmlns:a16="http://schemas.microsoft.com/office/drawing/2014/main" id="{82B665E4-D362-5E71-D52F-3B96300DBE68}"/>
              </a:ext>
            </a:extLst>
          </p:cNvPr>
          <p:cNvSpPr/>
          <p:nvPr/>
        </p:nvSpPr>
        <p:spPr>
          <a:xfrm rot="16200000">
            <a:off x="17716500" y="10785762"/>
            <a:ext cx="1641763" cy="17539855"/>
          </a:xfrm>
          <a:prstGeom prst="leftBrace">
            <a:avLst>
              <a:gd name="adj1" fmla="val 10659"/>
              <a:gd name="adj2" fmla="val 51724"/>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00" name="TextBox 499">
            <a:extLst>
              <a:ext uri="{FF2B5EF4-FFF2-40B4-BE49-F238E27FC236}">
                <a16:creationId xmlns:a16="http://schemas.microsoft.com/office/drawing/2014/main" id="{5DDE389D-7F8C-814D-AE62-61E94484EFF1}"/>
              </a:ext>
            </a:extLst>
          </p:cNvPr>
          <p:cNvSpPr txBox="1"/>
          <p:nvPr/>
        </p:nvSpPr>
        <p:spPr>
          <a:xfrm>
            <a:off x="16337972" y="20127191"/>
            <a:ext cx="5652655" cy="1209242"/>
          </a:xfrm>
          <a:prstGeom prst="rect">
            <a:avLst/>
          </a:prstGeom>
          <a:noFill/>
        </p:spPr>
        <p:txBody>
          <a:bodyPr wrap="square" rtlCol="0">
            <a:spAutoFit/>
          </a:bodyPr>
          <a:lstStyle/>
          <a:p>
            <a:r>
              <a:rPr lang="en-US" dirty="0"/>
              <a:t>Feature Maps</a:t>
            </a:r>
          </a:p>
        </p:txBody>
      </p:sp>
      <p:sp>
        <p:nvSpPr>
          <p:cNvPr id="501" name="TextBox 500">
            <a:extLst>
              <a:ext uri="{FF2B5EF4-FFF2-40B4-BE49-F238E27FC236}">
                <a16:creationId xmlns:a16="http://schemas.microsoft.com/office/drawing/2014/main" id="{C94E97C7-6ACC-E97F-9A3F-AD206BE83346}"/>
              </a:ext>
            </a:extLst>
          </p:cNvPr>
          <p:cNvSpPr txBox="1"/>
          <p:nvPr/>
        </p:nvSpPr>
        <p:spPr>
          <a:xfrm>
            <a:off x="9559634" y="3034146"/>
            <a:ext cx="7647710" cy="4559966"/>
          </a:xfrm>
          <a:prstGeom prst="rect">
            <a:avLst/>
          </a:prstGeom>
          <a:noFill/>
        </p:spPr>
        <p:txBody>
          <a:bodyPr wrap="square" rtlCol="0">
            <a:spAutoFit/>
          </a:bodyPr>
          <a:lstStyle/>
          <a:p>
            <a:pPr algn="ctr"/>
            <a:r>
              <a:rPr lang="en-US" dirty="0" err="1"/>
              <a:t>kernelSize</a:t>
            </a:r>
            <a:r>
              <a:rPr lang="en-US" dirty="0"/>
              <a:t>: 3x3</a:t>
            </a:r>
          </a:p>
          <a:p>
            <a:pPr algn="ctr"/>
            <a:r>
              <a:rPr lang="en-US" dirty="0" err="1"/>
              <a:t>numKernels</a:t>
            </a:r>
            <a:r>
              <a:rPr lang="en-US" dirty="0"/>
              <a:t>: 3</a:t>
            </a:r>
          </a:p>
          <a:p>
            <a:pPr algn="ctr"/>
            <a:r>
              <a:rPr lang="en-US" dirty="0"/>
              <a:t>Stride: [1,1]</a:t>
            </a:r>
          </a:p>
          <a:p>
            <a:pPr algn="ctr"/>
            <a:r>
              <a:rPr lang="en-US" dirty="0"/>
              <a:t>Padding: [1,1]</a:t>
            </a:r>
          </a:p>
        </p:txBody>
      </p:sp>
      <p:sp>
        <p:nvSpPr>
          <p:cNvPr id="502" name="TextBox 501">
            <a:extLst>
              <a:ext uri="{FF2B5EF4-FFF2-40B4-BE49-F238E27FC236}">
                <a16:creationId xmlns:a16="http://schemas.microsoft.com/office/drawing/2014/main" id="{B4521AB0-63A3-171E-21E8-00583F62A619}"/>
              </a:ext>
            </a:extLst>
          </p:cNvPr>
          <p:cNvSpPr txBox="1"/>
          <p:nvPr/>
        </p:nvSpPr>
        <p:spPr>
          <a:xfrm>
            <a:off x="19119273" y="3823855"/>
            <a:ext cx="6691745" cy="4559966"/>
          </a:xfrm>
          <a:prstGeom prst="rect">
            <a:avLst/>
          </a:prstGeom>
          <a:noFill/>
        </p:spPr>
        <p:txBody>
          <a:bodyPr wrap="square" rtlCol="0">
            <a:spAutoFit/>
          </a:bodyPr>
          <a:lstStyle/>
          <a:p>
            <a:pPr algn="ctr"/>
            <a:r>
              <a:rPr lang="en-US" dirty="0" err="1"/>
              <a:t>poolSize</a:t>
            </a:r>
            <a:r>
              <a:rPr lang="en-US" dirty="0"/>
              <a:t>: 3x3</a:t>
            </a:r>
          </a:p>
          <a:p>
            <a:pPr algn="ctr"/>
            <a:r>
              <a:rPr lang="en-US" dirty="0"/>
              <a:t>Stride: [3,3]</a:t>
            </a:r>
          </a:p>
          <a:p>
            <a:pPr algn="ctr"/>
            <a:r>
              <a:rPr lang="en-US" dirty="0"/>
              <a:t>Padding: [0,0]</a:t>
            </a:r>
          </a:p>
          <a:p>
            <a:pPr algn="ctr"/>
            <a:r>
              <a:rPr lang="en-US" dirty="0" err="1"/>
              <a:t>dropoutProb</a:t>
            </a:r>
            <a:r>
              <a:rPr lang="en-US" dirty="0"/>
              <a:t>=0.6</a:t>
            </a:r>
          </a:p>
        </p:txBody>
      </p:sp>
      <p:sp>
        <p:nvSpPr>
          <p:cNvPr id="503" name="TextBox 502">
            <a:extLst>
              <a:ext uri="{FF2B5EF4-FFF2-40B4-BE49-F238E27FC236}">
                <a16:creationId xmlns:a16="http://schemas.microsoft.com/office/drawing/2014/main" id="{34EE3420-B8B2-F3A6-7865-141088210A57}"/>
              </a:ext>
            </a:extLst>
          </p:cNvPr>
          <p:cNvSpPr txBox="1"/>
          <p:nvPr/>
        </p:nvSpPr>
        <p:spPr>
          <a:xfrm>
            <a:off x="758536" y="6542810"/>
            <a:ext cx="9258300" cy="1209242"/>
          </a:xfrm>
          <a:prstGeom prst="rect">
            <a:avLst/>
          </a:prstGeom>
          <a:noFill/>
        </p:spPr>
        <p:txBody>
          <a:bodyPr wrap="square" rtlCol="0">
            <a:spAutoFit/>
          </a:bodyPr>
          <a:lstStyle/>
          <a:p>
            <a:r>
              <a:rPr lang="en-US" dirty="0"/>
              <a:t>Size: 200x60x3</a:t>
            </a:r>
          </a:p>
        </p:txBody>
      </p:sp>
      <p:sp>
        <p:nvSpPr>
          <p:cNvPr id="504" name="TextBox 503">
            <a:extLst>
              <a:ext uri="{FF2B5EF4-FFF2-40B4-BE49-F238E27FC236}">
                <a16:creationId xmlns:a16="http://schemas.microsoft.com/office/drawing/2014/main" id="{86810F15-F499-4169-AF1A-3515F68D59FC}"/>
              </a:ext>
            </a:extLst>
          </p:cNvPr>
          <p:cNvSpPr txBox="1"/>
          <p:nvPr/>
        </p:nvSpPr>
        <p:spPr>
          <a:xfrm>
            <a:off x="34816249" y="3094146"/>
            <a:ext cx="6515100" cy="1209242"/>
          </a:xfrm>
          <a:prstGeom prst="rect">
            <a:avLst/>
          </a:prstGeom>
          <a:noFill/>
        </p:spPr>
        <p:txBody>
          <a:bodyPr wrap="square" rtlCol="0">
            <a:spAutoFit/>
          </a:bodyPr>
          <a:lstStyle/>
          <a:p>
            <a:r>
              <a:rPr lang="en-US" dirty="0"/>
              <a:t>Output Size: 276</a:t>
            </a:r>
          </a:p>
        </p:txBody>
      </p:sp>
      <p:sp>
        <p:nvSpPr>
          <p:cNvPr id="506" name="Rectangle: Rounded Corners 505">
            <a:extLst>
              <a:ext uri="{FF2B5EF4-FFF2-40B4-BE49-F238E27FC236}">
                <a16:creationId xmlns:a16="http://schemas.microsoft.com/office/drawing/2014/main" id="{8990CC19-D59D-6045-4ECC-DBB61F5A4CDA}"/>
              </a:ext>
            </a:extLst>
          </p:cNvPr>
          <p:cNvSpPr/>
          <p:nvPr/>
        </p:nvSpPr>
        <p:spPr>
          <a:xfrm>
            <a:off x="37728236" y="7546110"/>
            <a:ext cx="1993900" cy="7480299"/>
          </a:xfrm>
          <a:prstGeom prst="roundRect">
            <a:avLst/>
          </a:prstGeom>
          <a:solidFill>
            <a:srgbClr val="FFFF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TextBox 506">
            <a:extLst>
              <a:ext uri="{FF2B5EF4-FFF2-40B4-BE49-F238E27FC236}">
                <a16:creationId xmlns:a16="http://schemas.microsoft.com/office/drawing/2014/main" id="{92264CCD-132C-4FBF-5D40-DA15DDD9CF03}"/>
              </a:ext>
            </a:extLst>
          </p:cNvPr>
          <p:cNvSpPr txBox="1"/>
          <p:nvPr/>
        </p:nvSpPr>
        <p:spPr>
          <a:xfrm>
            <a:off x="39785634" y="7887196"/>
            <a:ext cx="2487561" cy="1209242"/>
          </a:xfrm>
          <a:prstGeom prst="rect">
            <a:avLst/>
          </a:prstGeom>
          <a:noFill/>
        </p:spPr>
        <p:txBody>
          <a:bodyPr wrap="square" rtlCol="0">
            <a:spAutoFit/>
          </a:bodyPr>
          <a:lstStyle/>
          <a:p>
            <a:r>
              <a:rPr lang="en-US" dirty="0"/>
              <a:t>Finish</a:t>
            </a:r>
          </a:p>
        </p:txBody>
      </p:sp>
      <p:sp>
        <p:nvSpPr>
          <p:cNvPr id="508" name="TextBox 507">
            <a:extLst>
              <a:ext uri="{FF2B5EF4-FFF2-40B4-BE49-F238E27FC236}">
                <a16:creationId xmlns:a16="http://schemas.microsoft.com/office/drawing/2014/main" id="{FBFB749B-30D1-F0BE-4A3F-9B8FA8D8766D}"/>
              </a:ext>
            </a:extLst>
          </p:cNvPr>
          <p:cNvSpPr txBox="1"/>
          <p:nvPr/>
        </p:nvSpPr>
        <p:spPr>
          <a:xfrm>
            <a:off x="39798511" y="9114590"/>
            <a:ext cx="2487561" cy="1209242"/>
          </a:xfrm>
          <a:prstGeom prst="rect">
            <a:avLst/>
          </a:prstGeom>
          <a:noFill/>
        </p:spPr>
        <p:txBody>
          <a:bodyPr wrap="square" rtlCol="0">
            <a:spAutoFit/>
          </a:bodyPr>
          <a:lstStyle/>
          <a:p>
            <a:r>
              <a:rPr lang="en-US" dirty="0"/>
              <a:t>Like</a:t>
            </a:r>
          </a:p>
        </p:txBody>
      </p:sp>
      <p:sp>
        <p:nvSpPr>
          <p:cNvPr id="510" name="TextBox 509">
            <a:extLst>
              <a:ext uri="{FF2B5EF4-FFF2-40B4-BE49-F238E27FC236}">
                <a16:creationId xmlns:a16="http://schemas.microsoft.com/office/drawing/2014/main" id="{97A3FCA9-7BD8-8564-A3BB-92F86C4ECC72}"/>
              </a:ext>
            </a:extLst>
          </p:cNvPr>
          <p:cNvSpPr txBox="1"/>
          <p:nvPr/>
        </p:nvSpPr>
        <p:spPr>
          <a:xfrm>
            <a:off x="39870145" y="10352519"/>
            <a:ext cx="2487561" cy="1209242"/>
          </a:xfrm>
          <a:prstGeom prst="rect">
            <a:avLst/>
          </a:prstGeom>
          <a:noFill/>
        </p:spPr>
        <p:txBody>
          <a:bodyPr wrap="square" rtlCol="0">
            <a:spAutoFit/>
          </a:bodyPr>
          <a:lstStyle/>
          <a:p>
            <a:r>
              <a:rPr lang="en-US" dirty="0"/>
              <a:t>Go</a:t>
            </a:r>
          </a:p>
        </p:txBody>
      </p:sp>
      <p:sp>
        <p:nvSpPr>
          <p:cNvPr id="511" name="TextBox 510">
            <a:extLst>
              <a:ext uri="{FF2B5EF4-FFF2-40B4-BE49-F238E27FC236}">
                <a16:creationId xmlns:a16="http://schemas.microsoft.com/office/drawing/2014/main" id="{5A062ED0-D56E-02BA-EFC3-14E6223038A4}"/>
              </a:ext>
            </a:extLst>
          </p:cNvPr>
          <p:cNvSpPr txBox="1"/>
          <p:nvPr/>
        </p:nvSpPr>
        <p:spPr>
          <a:xfrm>
            <a:off x="39837606" y="11608472"/>
            <a:ext cx="2487561" cy="1209242"/>
          </a:xfrm>
          <a:prstGeom prst="rect">
            <a:avLst/>
          </a:prstGeom>
          <a:noFill/>
        </p:spPr>
        <p:txBody>
          <a:bodyPr wrap="square" rtlCol="0">
            <a:spAutoFit/>
          </a:bodyPr>
          <a:lstStyle/>
          <a:p>
            <a:r>
              <a:rPr lang="en-US" dirty="0"/>
              <a:t>Help</a:t>
            </a:r>
          </a:p>
        </p:txBody>
      </p:sp>
      <p:sp>
        <p:nvSpPr>
          <p:cNvPr id="512" name="TextBox 511">
            <a:extLst>
              <a:ext uri="{FF2B5EF4-FFF2-40B4-BE49-F238E27FC236}">
                <a16:creationId xmlns:a16="http://schemas.microsoft.com/office/drawing/2014/main" id="{293297D8-4D56-EC3E-85C3-0B6FDDCB0DF0}"/>
              </a:ext>
            </a:extLst>
          </p:cNvPr>
          <p:cNvSpPr txBox="1"/>
          <p:nvPr/>
        </p:nvSpPr>
        <p:spPr>
          <a:xfrm>
            <a:off x="39707212" y="13050301"/>
            <a:ext cx="2603910" cy="1209242"/>
          </a:xfrm>
          <a:prstGeom prst="rect">
            <a:avLst/>
          </a:prstGeom>
          <a:noFill/>
        </p:spPr>
        <p:txBody>
          <a:bodyPr wrap="square" rtlCol="0">
            <a:spAutoFit/>
          </a:bodyPr>
          <a:lstStyle/>
          <a:p>
            <a:r>
              <a:rPr lang="en-US" dirty="0"/>
              <a:t> Bus</a:t>
            </a:r>
          </a:p>
        </p:txBody>
      </p:sp>
      <p:cxnSp>
        <p:nvCxnSpPr>
          <p:cNvPr id="513" name="Straight Connector 512">
            <a:extLst>
              <a:ext uri="{FF2B5EF4-FFF2-40B4-BE49-F238E27FC236}">
                <a16:creationId xmlns:a16="http://schemas.microsoft.com/office/drawing/2014/main" id="{39D7D0DC-6B44-AAC6-48A3-76D48D06DB59}"/>
              </a:ext>
            </a:extLst>
          </p:cNvPr>
          <p:cNvCxnSpPr>
            <a:cxnSpLocks/>
            <a:stCxn id="184" idx="6"/>
            <a:endCxn id="507" idx="1"/>
          </p:cNvCxnSpPr>
          <p:nvPr/>
        </p:nvCxnSpPr>
        <p:spPr>
          <a:xfrm>
            <a:off x="37314600" y="8198718"/>
            <a:ext cx="2471034" cy="293099"/>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EABAFB37-544F-3C13-4612-8712758B074C}"/>
              </a:ext>
            </a:extLst>
          </p:cNvPr>
          <p:cNvCxnSpPr>
            <a:cxnSpLocks/>
            <a:stCxn id="185" idx="6"/>
            <a:endCxn id="508" idx="1"/>
          </p:cNvCxnSpPr>
          <p:nvPr/>
        </p:nvCxnSpPr>
        <p:spPr>
          <a:xfrm flipV="1">
            <a:off x="37319363" y="9719211"/>
            <a:ext cx="2479148" cy="48059"/>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33B795B5-DF3D-A135-08D8-60A6294EB3FF}"/>
              </a:ext>
            </a:extLst>
          </p:cNvPr>
          <p:cNvCxnSpPr>
            <a:cxnSpLocks/>
            <a:stCxn id="192" idx="6"/>
            <a:endCxn id="510" idx="1"/>
          </p:cNvCxnSpPr>
          <p:nvPr/>
        </p:nvCxnSpPr>
        <p:spPr>
          <a:xfrm flipV="1">
            <a:off x="37319363" y="10957140"/>
            <a:ext cx="2550782" cy="39128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22" name="Straight Connector 521">
            <a:extLst>
              <a:ext uri="{FF2B5EF4-FFF2-40B4-BE49-F238E27FC236}">
                <a16:creationId xmlns:a16="http://schemas.microsoft.com/office/drawing/2014/main" id="{90EDF4A8-9988-B6BF-97A0-F2020A0E34C4}"/>
              </a:ext>
            </a:extLst>
          </p:cNvPr>
          <p:cNvCxnSpPr>
            <a:cxnSpLocks/>
            <a:stCxn id="186" idx="6"/>
            <a:endCxn id="511" idx="1"/>
          </p:cNvCxnSpPr>
          <p:nvPr/>
        </p:nvCxnSpPr>
        <p:spPr>
          <a:xfrm flipV="1">
            <a:off x="37300313" y="12213093"/>
            <a:ext cx="2537293" cy="678377"/>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25" name="Straight Connector 524">
            <a:extLst>
              <a:ext uri="{FF2B5EF4-FFF2-40B4-BE49-F238E27FC236}">
                <a16:creationId xmlns:a16="http://schemas.microsoft.com/office/drawing/2014/main" id="{CDF4C20C-2B43-5661-4158-CDF5CD3D7C0A}"/>
              </a:ext>
            </a:extLst>
          </p:cNvPr>
          <p:cNvCxnSpPr>
            <a:cxnSpLocks/>
            <a:stCxn id="187" idx="6"/>
            <a:endCxn id="512" idx="1"/>
          </p:cNvCxnSpPr>
          <p:nvPr/>
        </p:nvCxnSpPr>
        <p:spPr>
          <a:xfrm flipV="1">
            <a:off x="37300313" y="13654922"/>
            <a:ext cx="2406899" cy="608148"/>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529" name="TextBox 528">
            <a:extLst>
              <a:ext uri="{FF2B5EF4-FFF2-40B4-BE49-F238E27FC236}">
                <a16:creationId xmlns:a16="http://schemas.microsoft.com/office/drawing/2014/main" id="{18A1D11E-9E95-CE9B-E746-13B7CD06513E}"/>
              </a:ext>
            </a:extLst>
          </p:cNvPr>
          <p:cNvSpPr txBox="1"/>
          <p:nvPr/>
        </p:nvSpPr>
        <p:spPr>
          <a:xfrm>
            <a:off x="39686903" y="5955332"/>
            <a:ext cx="3421626" cy="1209368"/>
          </a:xfrm>
          <a:prstGeom prst="rect">
            <a:avLst/>
          </a:prstGeom>
          <a:noFill/>
        </p:spPr>
        <p:txBody>
          <a:bodyPr wrap="square" rtlCol="0">
            <a:spAutoFit/>
          </a:bodyPr>
          <a:lstStyle/>
          <a:p>
            <a:r>
              <a:rPr lang="en-US" dirty="0"/>
              <a:t>Output</a:t>
            </a:r>
          </a:p>
        </p:txBody>
      </p:sp>
      <p:sp>
        <p:nvSpPr>
          <p:cNvPr id="530" name="TextBox 529">
            <a:extLst>
              <a:ext uri="{FF2B5EF4-FFF2-40B4-BE49-F238E27FC236}">
                <a16:creationId xmlns:a16="http://schemas.microsoft.com/office/drawing/2014/main" id="{D28633E6-856C-09D4-EAE8-5FE51671103E}"/>
              </a:ext>
            </a:extLst>
          </p:cNvPr>
          <p:cNvSpPr txBox="1"/>
          <p:nvPr/>
        </p:nvSpPr>
        <p:spPr>
          <a:xfrm>
            <a:off x="37642800" y="15011400"/>
            <a:ext cx="5167745" cy="3443058"/>
          </a:xfrm>
          <a:prstGeom prst="rect">
            <a:avLst/>
          </a:prstGeom>
          <a:noFill/>
        </p:spPr>
        <p:txBody>
          <a:bodyPr wrap="square" rtlCol="0">
            <a:spAutoFit/>
          </a:bodyPr>
          <a:lstStyle/>
          <a:p>
            <a:r>
              <a:rPr lang="en-US" dirty="0" err="1"/>
              <a:t>Softmax</a:t>
            </a:r>
            <a:r>
              <a:rPr lang="en-US" dirty="0"/>
              <a:t> Activation Function</a:t>
            </a:r>
          </a:p>
        </p:txBody>
      </p:sp>
      <p:sp>
        <p:nvSpPr>
          <p:cNvPr id="531" name="TextBox 530">
            <a:extLst>
              <a:ext uri="{FF2B5EF4-FFF2-40B4-BE49-F238E27FC236}">
                <a16:creationId xmlns:a16="http://schemas.microsoft.com/office/drawing/2014/main" id="{40BF7FFF-E14E-5BA0-6F9B-5F2A2111D60D}"/>
              </a:ext>
            </a:extLst>
          </p:cNvPr>
          <p:cNvSpPr txBox="1"/>
          <p:nvPr/>
        </p:nvSpPr>
        <p:spPr>
          <a:xfrm>
            <a:off x="38179086" y="8689110"/>
            <a:ext cx="1841500" cy="1209242"/>
          </a:xfrm>
          <a:prstGeom prst="rect">
            <a:avLst/>
          </a:prstGeom>
          <a:noFill/>
        </p:spPr>
        <p:txBody>
          <a:bodyPr wrap="square" rtlCol="0">
            <a:spAutoFit/>
          </a:bodyPr>
          <a:lstStyle/>
          <a:p>
            <a:r>
              <a:rPr lang="en-US" dirty="0"/>
              <a:t>.2</a:t>
            </a:r>
          </a:p>
        </p:txBody>
      </p:sp>
      <p:sp>
        <p:nvSpPr>
          <p:cNvPr id="532" name="TextBox 531">
            <a:extLst>
              <a:ext uri="{FF2B5EF4-FFF2-40B4-BE49-F238E27FC236}">
                <a16:creationId xmlns:a16="http://schemas.microsoft.com/office/drawing/2014/main" id="{D250E23F-66C7-6703-E1DB-A9207443A69E}"/>
              </a:ext>
            </a:extLst>
          </p:cNvPr>
          <p:cNvSpPr txBox="1"/>
          <p:nvPr/>
        </p:nvSpPr>
        <p:spPr>
          <a:xfrm>
            <a:off x="38185436" y="10079760"/>
            <a:ext cx="1841500" cy="1209242"/>
          </a:xfrm>
          <a:prstGeom prst="rect">
            <a:avLst/>
          </a:prstGeom>
          <a:noFill/>
        </p:spPr>
        <p:txBody>
          <a:bodyPr wrap="square" rtlCol="0">
            <a:spAutoFit/>
          </a:bodyPr>
          <a:lstStyle/>
          <a:p>
            <a:r>
              <a:rPr lang="en-US" dirty="0"/>
              <a:t>.3</a:t>
            </a:r>
          </a:p>
        </p:txBody>
      </p:sp>
      <p:sp>
        <p:nvSpPr>
          <p:cNvPr id="533" name="TextBox 532">
            <a:extLst>
              <a:ext uri="{FF2B5EF4-FFF2-40B4-BE49-F238E27FC236}">
                <a16:creationId xmlns:a16="http://schemas.microsoft.com/office/drawing/2014/main" id="{20798265-C580-1065-7A80-E5DDAB1CC3E0}"/>
              </a:ext>
            </a:extLst>
          </p:cNvPr>
          <p:cNvSpPr txBox="1"/>
          <p:nvPr/>
        </p:nvSpPr>
        <p:spPr>
          <a:xfrm>
            <a:off x="38160036" y="11445009"/>
            <a:ext cx="1841500" cy="1209242"/>
          </a:xfrm>
          <a:prstGeom prst="rect">
            <a:avLst/>
          </a:prstGeom>
          <a:noFill/>
        </p:spPr>
        <p:txBody>
          <a:bodyPr wrap="square" rtlCol="0">
            <a:spAutoFit/>
          </a:bodyPr>
          <a:lstStyle/>
          <a:p>
            <a:r>
              <a:rPr lang="en-US" dirty="0"/>
              <a:t>.4</a:t>
            </a:r>
          </a:p>
        </p:txBody>
      </p:sp>
      <p:sp>
        <p:nvSpPr>
          <p:cNvPr id="534" name="TextBox 533">
            <a:extLst>
              <a:ext uri="{FF2B5EF4-FFF2-40B4-BE49-F238E27FC236}">
                <a16:creationId xmlns:a16="http://schemas.microsoft.com/office/drawing/2014/main" id="{D6561B0C-4A83-EAE7-CCC9-2E8F50385339}"/>
              </a:ext>
            </a:extLst>
          </p:cNvPr>
          <p:cNvSpPr txBox="1"/>
          <p:nvPr/>
        </p:nvSpPr>
        <p:spPr>
          <a:xfrm>
            <a:off x="38210836" y="12873759"/>
            <a:ext cx="1841500" cy="1209242"/>
          </a:xfrm>
          <a:prstGeom prst="rect">
            <a:avLst/>
          </a:prstGeom>
          <a:noFill/>
        </p:spPr>
        <p:txBody>
          <a:bodyPr wrap="square" rtlCol="0">
            <a:spAutoFit/>
          </a:bodyPr>
          <a:lstStyle/>
          <a:p>
            <a:r>
              <a:rPr lang="en-US" dirty="0"/>
              <a:t>.2</a:t>
            </a:r>
          </a:p>
        </p:txBody>
      </p:sp>
      <p:sp>
        <p:nvSpPr>
          <p:cNvPr id="535" name="TextBox 534">
            <a:extLst>
              <a:ext uri="{FF2B5EF4-FFF2-40B4-BE49-F238E27FC236}">
                <a16:creationId xmlns:a16="http://schemas.microsoft.com/office/drawing/2014/main" id="{4997127C-3165-4767-E706-93E5E03DC04B}"/>
              </a:ext>
            </a:extLst>
          </p:cNvPr>
          <p:cNvSpPr txBox="1"/>
          <p:nvPr/>
        </p:nvSpPr>
        <p:spPr>
          <a:xfrm>
            <a:off x="38217186" y="7254010"/>
            <a:ext cx="1841500" cy="1209242"/>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1608407586"/>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7030A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0148CE03E12C4A97B128A60B4E5ABD" ma:contentTypeVersion="13" ma:contentTypeDescription="Create a new document." ma:contentTypeScope="" ma:versionID="5bdce319f809d766b35b589956228546">
  <xsd:schema xmlns:xsd="http://www.w3.org/2001/XMLSchema" xmlns:xs="http://www.w3.org/2001/XMLSchema" xmlns:p="http://schemas.microsoft.com/office/2006/metadata/properties" xmlns:ns2="e32a62a1-688d-4eef-a5ff-f48dc6810390" xmlns:ns3="43311834-68c0-48e8-b8f1-7cfe371563c1" targetNamespace="http://schemas.microsoft.com/office/2006/metadata/properties" ma:root="true" ma:fieldsID="f506b6b27629cfa36ebcdfcc6a2e8ab9" ns2:_="" ns3:_="">
    <xsd:import namespace="e32a62a1-688d-4eef-a5ff-f48dc6810390"/>
    <xsd:import namespace="43311834-68c0-48e8-b8f1-7cfe371563c1"/>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2a62a1-688d-4eef-a5ff-f48dc68103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a2171c7-2f68-48d5-939d-db62c42d5d8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3311834-68c0-48e8-b8f1-7cfe371563c1"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43f555c2-4107-4e40-913d-87f924c8a7fd}" ma:internalName="TaxCatchAll" ma:showField="CatchAllData" ma:web="43311834-68c0-48e8-b8f1-7cfe371563c1">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2a62a1-688d-4eef-a5ff-f48dc6810390">
      <Terms xmlns="http://schemas.microsoft.com/office/infopath/2007/PartnerControls"/>
    </lcf76f155ced4ddcb4097134ff3c332f>
    <TaxCatchAll xmlns="43311834-68c0-48e8-b8f1-7cfe371563c1" xsi:nil="true"/>
    <SharedWithUsers xmlns="43311834-68c0-48e8-b8f1-7cfe371563c1">
      <UserInfo>
        <DisplayName>Pulijala, Bharath Chandra</DisplayName>
        <AccountId>362</AccountId>
        <AccountType/>
      </UserInfo>
      <UserInfo>
        <DisplayName>Colvell, Matt T</DisplayName>
        <AccountId>364</AccountId>
        <AccountType/>
      </UserInfo>
      <UserInfo>
        <DisplayName>Odiadi, Nicole A</DisplayName>
        <AccountId>372</AccountId>
        <AccountType/>
      </UserInfo>
      <UserInfo>
        <DisplayName>Chilelli, Alessandro</DisplayName>
        <AccountId>400</AccountId>
        <AccountType/>
      </UserInfo>
      <UserInfo>
        <DisplayName>Freeman, Destiny</DisplayName>
        <AccountId>428</AccountId>
        <AccountType/>
      </UserInfo>
      <UserInfo>
        <DisplayName>Cambry- Perry, Naya I</DisplayName>
        <AccountId>429</AccountId>
        <AccountType/>
      </UserInfo>
      <UserInfo>
        <DisplayName>Afolabi, Saleem</DisplayName>
        <AccountId>432</AccountId>
        <AccountType/>
      </UserInfo>
      <UserInfo>
        <DisplayName>Thomas, Ralph</DisplayName>
        <AccountId>452</AccountId>
        <AccountType/>
      </UserInfo>
      <UserInfo>
        <DisplayName>Iocca, Ryan C</DisplayName>
        <AccountId>505</AccountId>
        <AccountType/>
      </UserInfo>
      <UserInfo>
        <DisplayName>Kiszka, David P</DisplayName>
        <AccountId>349</AccountId>
        <AccountType/>
      </UserInfo>
      <UserInfo>
        <DisplayName>Philo, Jaelin A</DisplayName>
        <AccountId>375</AccountId>
        <AccountType/>
      </UserInfo>
      <UserInfo>
        <DisplayName>Neri, Frank J</DisplayName>
        <AccountId>655</AccountId>
        <AccountType/>
      </UserInfo>
    </SharedWithUsers>
  </documentManagement>
</p:properties>
</file>

<file path=customXml/itemProps1.xml><?xml version="1.0" encoding="utf-8"?>
<ds:datastoreItem xmlns:ds="http://schemas.openxmlformats.org/officeDocument/2006/customXml" ds:itemID="{63C615F7-9621-4E81-9D87-513D5FAC34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2a62a1-688d-4eef-a5ff-f48dc6810390"/>
    <ds:schemaRef ds:uri="43311834-68c0-48e8-b8f1-7cfe371563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A2FEF6-7ABC-474D-BDC6-916EE9C340F2}">
  <ds:schemaRefs>
    <ds:schemaRef ds:uri="http://schemas.microsoft.com/sharepoint/v3/contenttype/forms"/>
  </ds:schemaRefs>
</ds:datastoreItem>
</file>

<file path=customXml/itemProps3.xml><?xml version="1.0" encoding="utf-8"?>
<ds:datastoreItem xmlns:ds="http://schemas.openxmlformats.org/officeDocument/2006/customXml" ds:itemID="{2163D63C-2CDF-45E8-86FC-0EBBC3696EEB}">
  <ds:schemaRefs>
    <ds:schemaRef ds:uri="http://schemas.microsoft.com/office/2006/metadata/properties"/>
    <ds:schemaRef ds:uri="http://schemas.microsoft.com/office/infopath/2007/PartnerControls"/>
    <ds:schemaRef ds:uri="e32a62a1-688d-4eef-a5ff-f48dc6810390"/>
    <ds:schemaRef ds:uri="43311834-68c0-48e8-b8f1-7cfe371563c1"/>
  </ds:schemaRefs>
</ds:datastoreItem>
</file>

<file path=docProps/app.xml><?xml version="1.0" encoding="utf-8"?>
<Properties xmlns="http://schemas.openxmlformats.org/officeDocument/2006/extended-properties" xmlns:vt="http://schemas.openxmlformats.org/officeDocument/2006/docPropsVTypes">
  <Template>Office Theme</Template>
  <TotalTime>632</TotalTime>
  <Words>1525</Words>
  <Application>Microsoft Office PowerPoint</Application>
  <PresentationFormat>Custom</PresentationFormat>
  <Paragraphs>174</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University at Albany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Vitrano, Deana M</dc:creator>
  <cp:lastModifiedBy>1706189 - Joy Saha</cp:lastModifiedBy>
  <cp:revision>53</cp:revision>
  <cp:lastPrinted>2019-11-19T17:54:50Z</cp:lastPrinted>
  <dcterms:created xsi:type="dcterms:W3CDTF">2019-11-12T16:19:56Z</dcterms:created>
  <dcterms:modified xsi:type="dcterms:W3CDTF">2025-04-01T16:38:17Z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0x010100AE0148CE03E12C4A97B128A60B4E5ABD</vt:lpwstr>
  </property>
  <property fmtid="{D5CDD505-2E9C-101B-9397-08002B2CF9AE}" pid="3" name="MediaServiceImageTags">
    <vt:lpwstr/>
  </property>
</Properties>
</file>